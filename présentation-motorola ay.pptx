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D1D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89535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D1D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89535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D1D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89535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D1D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89535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89535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96632" y="0"/>
            <a:ext cx="0" cy="5943600"/>
          </a:xfrm>
          <a:custGeom>
            <a:avLst/>
            <a:gdLst/>
            <a:ahLst/>
            <a:cxnLst/>
            <a:rect l="l" t="t" r="r" b="b"/>
            <a:pathLst>
              <a:path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8678" y="203149"/>
            <a:ext cx="945464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D1D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60119" y="2114549"/>
            <a:ext cx="8898255" cy="2585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53770" y="6162430"/>
            <a:ext cx="299719" cy="214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89535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13" Type="http://schemas.openxmlformats.org/officeDocument/2006/relationships/image" Target="../media/image37.jpg"/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12" Type="http://schemas.openxmlformats.org/officeDocument/2006/relationships/image" Target="../media/image36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jpg"/><Relationship Id="rId5" Type="http://schemas.openxmlformats.org/officeDocument/2006/relationships/image" Target="../media/image29.jpg"/><Relationship Id="rId10" Type="http://schemas.openxmlformats.org/officeDocument/2006/relationships/image" Target="../media/image34.jpg"/><Relationship Id="rId4" Type="http://schemas.openxmlformats.org/officeDocument/2006/relationships/image" Target="../media/image28.png"/><Relationship Id="rId9" Type="http://schemas.openxmlformats.org/officeDocument/2006/relationships/image" Target="../media/image3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6994" y="820039"/>
            <a:ext cx="5770880" cy="137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Université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Hassan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Premier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Settat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Georgia"/>
                <a:cs typeface="Georgia"/>
              </a:rPr>
              <a:t>Faculté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des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Sciences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et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Techniques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Settat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(FST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Settat)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1800">
              <a:latin typeface="Georgia"/>
              <a:cs typeface="Georgia"/>
            </a:endParaRPr>
          </a:p>
          <a:p>
            <a:pPr marL="959485">
              <a:lnSpc>
                <a:spcPct val="100000"/>
              </a:lnSpc>
            </a:pPr>
            <a:r>
              <a:rPr sz="2000" b="1" spc="-10" dirty="0">
                <a:latin typeface="Georgia"/>
                <a:cs typeface="Georgia"/>
              </a:rPr>
              <a:t>Spécialité</a:t>
            </a:r>
            <a:r>
              <a:rPr sz="2000" b="1" spc="-114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: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Genie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Informatique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GI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600" spc="-50" dirty="0">
                <a:latin typeface="Georgia"/>
                <a:cs typeface="Georgia"/>
              </a:rPr>
              <a:t>)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3145" y="2328862"/>
            <a:ext cx="8086090" cy="1885314"/>
            <a:chOff x="2053145" y="2328862"/>
            <a:chExt cx="8086090" cy="1885314"/>
          </a:xfrm>
        </p:grpSpPr>
        <p:sp>
          <p:nvSpPr>
            <p:cNvPr id="4" name="object 4"/>
            <p:cNvSpPr/>
            <p:nvPr/>
          </p:nvSpPr>
          <p:spPr>
            <a:xfrm>
              <a:off x="2057907" y="2450845"/>
              <a:ext cx="8076565" cy="1758950"/>
            </a:xfrm>
            <a:custGeom>
              <a:avLst/>
              <a:gdLst/>
              <a:ahLst/>
              <a:cxnLst/>
              <a:rect l="l" t="t" r="r" b="b"/>
              <a:pathLst>
                <a:path w="8076565" h="1758950">
                  <a:moveTo>
                    <a:pt x="8076184" y="0"/>
                  </a:moveTo>
                  <a:lnTo>
                    <a:pt x="8066958" y="45640"/>
                  </a:lnTo>
                  <a:lnTo>
                    <a:pt x="8041814" y="82899"/>
                  </a:lnTo>
                  <a:lnTo>
                    <a:pt x="8004550" y="108013"/>
                  </a:lnTo>
                  <a:lnTo>
                    <a:pt x="7958963" y="117220"/>
                  </a:lnTo>
                  <a:lnTo>
                    <a:pt x="117221" y="117220"/>
                  </a:lnTo>
                  <a:lnTo>
                    <a:pt x="71580" y="126446"/>
                  </a:lnTo>
                  <a:lnTo>
                    <a:pt x="34321" y="151590"/>
                  </a:lnTo>
                  <a:lnTo>
                    <a:pt x="9207" y="188854"/>
                  </a:lnTo>
                  <a:lnTo>
                    <a:pt x="0" y="234441"/>
                  </a:lnTo>
                  <a:lnTo>
                    <a:pt x="0" y="1641220"/>
                  </a:lnTo>
                  <a:lnTo>
                    <a:pt x="9207" y="1686861"/>
                  </a:lnTo>
                  <a:lnTo>
                    <a:pt x="34321" y="1724120"/>
                  </a:lnTo>
                  <a:lnTo>
                    <a:pt x="71580" y="1749234"/>
                  </a:lnTo>
                  <a:lnTo>
                    <a:pt x="117221" y="1758441"/>
                  </a:lnTo>
                  <a:lnTo>
                    <a:pt x="162861" y="1749234"/>
                  </a:lnTo>
                  <a:lnTo>
                    <a:pt x="200120" y="1724120"/>
                  </a:lnTo>
                  <a:lnTo>
                    <a:pt x="225234" y="1686861"/>
                  </a:lnTo>
                  <a:lnTo>
                    <a:pt x="234442" y="1641220"/>
                  </a:lnTo>
                  <a:lnTo>
                    <a:pt x="234442" y="1523999"/>
                  </a:lnTo>
                  <a:lnTo>
                    <a:pt x="7958963" y="1523999"/>
                  </a:lnTo>
                  <a:lnTo>
                    <a:pt x="8004603" y="1514774"/>
                  </a:lnTo>
                  <a:lnTo>
                    <a:pt x="8041862" y="1489630"/>
                  </a:lnTo>
                  <a:lnTo>
                    <a:pt x="8066976" y="1452366"/>
                  </a:lnTo>
                  <a:lnTo>
                    <a:pt x="8076184" y="1406778"/>
                  </a:lnTo>
                  <a:lnTo>
                    <a:pt x="8076184" y="351663"/>
                  </a:lnTo>
                  <a:lnTo>
                    <a:pt x="117221" y="351663"/>
                  </a:lnTo>
                  <a:lnTo>
                    <a:pt x="117221" y="234441"/>
                  </a:lnTo>
                  <a:lnTo>
                    <a:pt x="121834" y="211631"/>
                  </a:lnTo>
                  <a:lnTo>
                    <a:pt x="134413" y="193024"/>
                  </a:lnTo>
                  <a:lnTo>
                    <a:pt x="153064" y="180488"/>
                  </a:lnTo>
                  <a:lnTo>
                    <a:pt x="175894" y="175894"/>
                  </a:lnTo>
                  <a:lnTo>
                    <a:pt x="8076184" y="175894"/>
                  </a:lnTo>
                  <a:lnTo>
                    <a:pt x="8076184" y="0"/>
                  </a:lnTo>
                  <a:close/>
                </a:path>
                <a:path w="8076565" h="1758950">
                  <a:moveTo>
                    <a:pt x="8076184" y="175894"/>
                  </a:moveTo>
                  <a:lnTo>
                    <a:pt x="175894" y="175894"/>
                  </a:lnTo>
                  <a:lnTo>
                    <a:pt x="198705" y="180488"/>
                  </a:lnTo>
                  <a:lnTo>
                    <a:pt x="217312" y="193024"/>
                  </a:lnTo>
                  <a:lnTo>
                    <a:pt x="229848" y="211631"/>
                  </a:lnTo>
                  <a:lnTo>
                    <a:pt x="234442" y="234441"/>
                  </a:lnTo>
                  <a:lnTo>
                    <a:pt x="225234" y="280082"/>
                  </a:lnTo>
                  <a:lnTo>
                    <a:pt x="200120" y="317341"/>
                  </a:lnTo>
                  <a:lnTo>
                    <a:pt x="162861" y="342455"/>
                  </a:lnTo>
                  <a:lnTo>
                    <a:pt x="117221" y="351663"/>
                  </a:lnTo>
                  <a:lnTo>
                    <a:pt x="8076184" y="351663"/>
                  </a:lnTo>
                  <a:lnTo>
                    <a:pt x="8076184" y="175894"/>
                  </a:lnTo>
                  <a:close/>
                </a:path>
                <a:path w="8076565" h="1758950">
                  <a:moveTo>
                    <a:pt x="7841742" y="0"/>
                  </a:moveTo>
                  <a:lnTo>
                    <a:pt x="7841742" y="117220"/>
                  </a:lnTo>
                  <a:lnTo>
                    <a:pt x="7958963" y="117220"/>
                  </a:lnTo>
                  <a:lnTo>
                    <a:pt x="7958963" y="58674"/>
                  </a:lnTo>
                  <a:lnTo>
                    <a:pt x="7900289" y="58674"/>
                  </a:lnTo>
                  <a:lnTo>
                    <a:pt x="7877478" y="54060"/>
                  </a:lnTo>
                  <a:lnTo>
                    <a:pt x="7858871" y="41481"/>
                  </a:lnTo>
                  <a:lnTo>
                    <a:pt x="7846335" y="22830"/>
                  </a:lnTo>
                  <a:lnTo>
                    <a:pt x="7841742" y="0"/>
                  </a:lnTo>
                  <a:close/>
                </a:path>
                <a:path w="8076565" h="1758950">
                  <a:moveTo>
                    <a:pt x="7958963" y="0"/>
                  </a:moveTo>
                  <a:lnTo>
                    <a:pt x="7954349" y="22830"/>
                  </a:lnTo>
                  <a:lnTo>
                    <a:pt x="7941770" y="41481"/>
                  </a:lnTo>
                  <a:lnTo>
                    <a:pt x="7923119" y="54060"/>
                  </a:lnTo>
                  <a:lnTo>
                    <a:pt x="7900289" y="58674"/>
                  </a:lnTo>
                  <a:lnTo>
                    <a:pt x="7958963" y="58674"/>
                  </a:lnTo>
                  <a:lnTo>
                    <a:pt x="795896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75128" y="2333625"/>
              <a:ext cx="7959090" cy="469265"/>
            </a:xfrm>
            <a:custGeom>
              <a:avLst/>
              <a:gdLst/>
              <a:ahLst/>
              <a:cxnLst/>
              <a:rect l="l" t="t" r="r" b="b"/>
              <a:pathLst>
                <a:path w="7959090" h="469264">
                  <a:moveTo>
                    <a:pt x="58673" y="293115"/>
                  </a:moveTo>
                  <a:lnTo>
                    <a:pt x="35843" y="297709"/>
                  </a:lnTo>
                  <a:lnTo>
                    <a:pt x="17192" y="310245"/>
                  </a:lnTo>
                  <a:lnTo>
                    <a:pt x="4613" y="328852"/>
                  </a:lnTo>
                  <a:lnTo>
                    <a:pt x="0" y="351663"/>
                  </a:lnTo>
                  <a:lnTo>
                    <a:pt x="0" y="468884"/>
                  </a:lnTo>
                  <a:lnTo>
                    <a:pt x="45640" y="459676"/>
                  </a:lnTo>
                  <a:lnTo>
                    <a:pt x="82899" y="434562"/>
                  </a:lnTo>
                  <a:lnTo>
                    <a:pt x="108013" y="397303"/>
                  </a:lnTo>
                  <a:lnTo>
                    <a:pt x="117220" y="351663"/>
                  </a:lnTo>
                  <a:lnTo>
                    <a:pt x="112627" y="328852"/>
                  </a:lnTo>
                  <a:lnTo>
                    <a:pt x="100091" y="310245"/>
                  </a:lnTo>
                  <a:lnTo>
                    <a:pt x="81484" y="297709"/>
                  </a:lnTo>
                  <a:lnTo>
                    <a:pt x="58673" y="293115"/>
                  </a:lnTo>
                  <a:close/>
                </a:path>
                <a:path w="7959090" h="469264">
                  <a:moveTo>
                    <a:pt x="7958963" y="117221"/>
                  </a:moveTo>
                  <a:lnTo>
                    <a:pt x="7841742" y="117221"/>
                  </a:lnTo>
                  <a:lnTo>
                    <a:pt x="7841742" y="234441"/>
                  </a:lnTo>
                  <a:lnTo>
                    <a:pt x="7887382" y="225234"/>
                  </a:lnTo>
                  <a:lnTo>
                    <a:pt x="7924641" y="200120"/>
                  </a:lnTo>
                  <a:lnTo>
                    <a:pt x="7949755" y="162861"/>
                  </a:lnTo>
                  <a:lnTo>
                    <a:pt x="7958963" y="117221"/>
                  </a:lnTo>
                  <a:close/>
                </a:path>
                <a:path w="7959090" h="469264">
                  <a:moveTo>
                    <a:pt x="7841742" y="0"/>
                  </a:moveTo>
                  <a:lnTo>
                    <a:pt x="7796101" y="9225"/>
                  </a:lnTo>
                  <a:lnTo>
                    <a:pt x="7758842" y="34369"/>
                  </a:lnTo>
                  <a:lnTo>
                    <a:pt x="7733728" y="71633"/>
                  </a:lnTo>
                  <a:lnTo>
                    <a:pt x="7724521" y="117221"/>
                  </a:lnTo>
                  <a:lnTo>
                    <a:pt x="7729114" y="140051"/>
                  </a:lnTo>
                  <a:lnTo>
                    <a:pt x="7741650" y="158702"/>
                  </a:lnTo>
                  <a:lnTo>
                    <a:pt x="7760257" y="171281"/>
                  </a:lnTo>
                  <a:lnTo>
                    <a:pt x="7783068" y="175895"/>
                  </a:lnTo>
                  <a:lnTo>
                    <a:pt x="7805898" y="171281"/>
                  </a:lnTo>
                  <a:lnTo>
                    <a:pt x="7824549" y="158702"/>
                  </a:lnTo>
                  <a:lnTo>
                    <a:pt x="7837128" y="140051"/>
                  </a:lnTo>
                  <a:lnTo>
                    <a:pt x="7841742" y="117221"/>
                  </a:lnTo>
                  <a:lnTo>
                    <a:pt x="7958963" y="117221"/>
                  </a:lnTo>
                  <a:lnTo>
                    <a:pt x="7949755" y="71633"/>
                  </a:lnTo>
                  <a:lnTo>
                    <a:pt x="7924641" y="34369"/>
                  </a:lnTo>
                  <a:lnTo>
                    <a:pt x="7887382" y="9225"/>
                  </a:lnTo>
                  <a:lnTo>
                    <a:pt x="7841742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7907" y="2333625"/>
              <a:ext cx="8076565" cy="1875789"/>
            </a:xfrm>
            <a:custGeom>
              <a:avLst/>
              <a:gdLst/>
              <a:ahLst/>
              <a:cxnLst/>
              <a:rect l="l" t="t" r="r" b="b"/>
              <a:pathLst>
                <a:path w="8076565" h="1875789">
                  <a:moveTo>
                    <a:pt x="0" y="351663"/>
                  </a:moveTo>
                  <a:lnTo>
                    <a:pt x="9207" y="306075"/>
                  </a:lnTo>
                  <a:lnTo>
                    <a:pt x="34321" y="268811"/>
                  </a:lnTo>
                  <a:lnTo>
                    <a:pt x="71580" y="243667"/>
                  </a:lnTo>
                  <a:lnTo>
                    <a:pt x="117221" y="234441"/>
                  </a:lnTo>
                  <a:lnTo>
                    <a:pt x="7841742" y="234441"/>
                  </a:lnTo>
                  <a:lnTo>
                    <a:pt x="7841742" y="117221"/>
                  </a:lnTo>
                  <a:lnTo>
                    <a:pt x="7850949" y="71633"/>
                  </a:lnTo>
                  <a:lnTo>
                    <a:pt x="7876063" y="34369"/>
                  </a:lnTo>
                  <a:lnTo>
                    <a:pt x="7913322" y="9225"/>
                  </a:lnTo>
                  <a:lnTo>
                    <a:pt x="7958963" y="0"/>
                  </a:lnTo>
                  <a:lnTo>
                    <a:pt x="8004603" y="9225"/>
                  </a:lnTo>
                  <a:lnTo>
                    <a:pt x="8041862" y="34369"/>
                  </a:lnTo>
                  <a:lnTo>
                    <a:pt x="8066976" y="71633"/>
                  </a:lnTo>
                  <a:lnTo>
                    <a:pt x="8076184" y="117221"/>
                  </a:lnTo>
                  <a:lnTo>
                    <a:pt x="8076184" y="1524000"/>
                  </a:lnTo>
                  <a:lnTo>
                    <a:pt x="8066958" y="1569640"/>
                  </a:lnTo>
                  <a:lnTo>
                    <a:pt x="8041814" y="1606899"/>
                  </a:lnTo>
                  <a:lnTo>
                    <a:pt x="8004550" y="1632013"/>
                  </a:lnTo>
                  <a:lnTo>
                    <a:pt x="7958963" y="1641220"/>
                  </a:lnTo>
                  <a:lnTo>
                    <a:pt x="234442" y="1641220"/>
                  </a:lnTo>
                  <a:lnTo>
                    <a:pt x="234442" y="1758442"/>
                  </a:lnTo>
                  <a:lnTo>
                    <a:pt x="225234" y="1804082"/>
                  </a:lnTo>
                  <a:lnTo>
                    <a:pt x="200120" y="1841341"/>
                  </a:lnTo>
                  <a:lnTo>
                    <a:pt x="162861" y="1866455"/>
                  </a:lnTo>
                  <a:lnTo>
                    <a:pt x="117221" y="1875663"/>
                  </a:lnTo>
                  <a:lnTo>
                    <a:pt x="71580" y="1866455"/>
                  </a:lnTo>
                  <a:lnTo>
                    <a:pt x="34321" y="1841341"/>
                  </a:lnTo>
                  <a:lnTo>
                    <a:pt x="9207" y="1804082"/>
                  </a:lnTo>
                  <a:lnTo>
                    <a:pt x="0" y="1758442"/>
                  </a:lnTo>
                  <a:lnTo>
                    <a:pt x="0" y="351663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94887" y="2446083"/>
              <a:ext cx="243967" cy="12674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3145" y="2621978"/>
              <a:ext cx="243967" cy="1854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92349" y="2685288"/>
              <a:ext cx="0" cy="1289685"/>
            </a:xfrm>
            <a:custGeom>
              <a:avLst/>
              <a:gdLst/>
              <a:ahLst/>
              <a:cxnLst/>
              <a:rect l="l" t="t" r="r" b="b"/>
              <a:pathLst>
                <a:path h="1289685">
                  <a:moveTo>
                    <a:pt x="0" y="0"/>
                  </a:moveTo>
                  <a:lnTo>
                    <a:pt x="0" y="1289558"/>
                  </a:lnTo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26054" y="2826511"/>
            <a:ext cx="59709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129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Georgia"/>
                <a:cs typeface="Georgia"/>
              </a:rPr>
              <a:t>Réalisation</a:t>
            </a:r>
            <a:r>
              <a:rPr sz="2800" b="1" spc="-12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d’un</a:t>
            </a:r>
            <a:r>
              <a:rPr sz="2800" b="1" spc="-12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simulateur</a:t>
            </a:r>
            <a:r>
              <a:rPr sz="2800" b="1" spc="-114" dirty="0">
                <a:latin typeface="Georgia"/>
                <a:cs typeface="Georgia"/>
              </a:rPr>
              <a:t> </a:t>
            </a:r>
            <a:r>
              <a:rPr sz="2800" b="1" spc="-25" dirty="0">
                <a:latin typeface="Georgia"/>
                <a:cs typeface="Georgia"/>
              </a:rPr>
              <a:t>de </a:t>
            </a:r>
            <a:r>
              <a:rPr sz="2800" b="1" dirty="0">
                <a:latin typeface="Georgia"/>
                <a:cs typeface="Georgia"/>
              </a:rPr>
              <a:t>microprocesseur</a:t>
            </a:r>
            <a:r>
              <a:rPr sz="2800" b="1" spc="-4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Motorola</a:t>
            </a:r>
            <a:r>
              <a:rPr sz="2800" b="1" spc="-85" dirty="0">
                <a:latin typeface="Georgia"/>
                <a:cs typeface="Georgia"/>
              </a:rPr>
              <a:t> </a:t>
            </a:r>
            <a:r>
              <a:rPr sz="2800" b="1" spc="-20" dirty="0">
                <a:latin typeface="Georgia"/>
                <a:cs typeface="Georgia"/>
              </a:rPr>
              <a:t>6809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11" name="object 11"/>
          <p:cNvSpPr txBox="1">
            <a:spLocks/>
          </p:cNvSpPr>
          <p:nvPr/>
        </p:nvSpPr>
        <p:spPr>
          <a:xfrm>
            <a:off x="1428114" y="4162805"/>
            <a:ext cx="5981065" cy="212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4704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C4586"/>
                </a:solidFill>
                <a:latin typeface="Georgia"/>
                <a:cs typeface="Georgia"/>
              </a:rPr>
              <a:t>Encadré</a:t>
            </a:r>
            <a:r>
              <a:rPr sz="1800" b="1" spc="-55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b="1" spc="-20" dirty="0">
                <a:solidFill>
                  <a:srgbClr val="1C4586"/>
                </a:solidFill>
                <a:latin typeface="Georgia"/>
                <a:cs typeface="Georgia"/>
              </a:rPr>
              <a:t>par:</a:t>
            </a:r>
            <a:endParaRPr sz="1800" dirty="0">
              <a:latin typeface="Georgia"/>
              <a:cs typeface="Georgia"/>
            </a:endParaRPr>
          </a:p>
          <a:p>
            <a:pPr marL="3357245" algn="ctr">
              <a:lnSpc>
                <a:spcPct val="100000"/>
              </a:lnSpc>
            </a:pPr>
            <a:r>
              <a:rPr sz="1800" dirty="0">
                <a:solidFill>
                  <a:srgbClr val="1C4586"/>
                </a:solidFill>
                <a:latin typeface="Georgia"/>
                <a:cs typeface="Georgia"/>
              </a:rPr>
              <a:t>Pr.</a:t>
            </a:r>
            <a:r>
              <a:rPr sz="1800" spc="-45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1C4586"/>
                </a:solidFill>
                <a:latin typeface="Georgia"/>
                <a:cs typeface="Georgia"/>
              </a:rPr>
              <a:t>Dr.BENALLA</a:t>
            </a:r>
            <a:r>
              <a:rPr sz="1800" spc="-40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1C4586"/>
                </a:solidFill>
                <a:latin typeface="Georgia"/>
                <a:cs typeface="Georgia"/>
              </a:rPr>
              <a:t>Hicham</a:t>
            </a:r>
            <a:endParaRPr sz="1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b="1" dirty="0">
                <a:solidFill>
                  <a:srgbClr val="1C4586"/>
                </a:solidFill>
                <a:latin typeface="Georgia"/>
                <a:cs typeface="Georgia"/>
              </a:rPr>
              <a:t>Réalisé</a:t>
            </a:r>
            <a:r>
              <a:rPr sz="1800" b="1" spc="-70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b="1" spc="-20" dirty="0">
                <a:solidFill>
                  <a:srgbClr val="1C4586"/>
                </a:solidFill>
                <a:latin typeface="Georgia"/>
                <a:cs typeface="Georgia"/>
              </a:rPr>
              <a:t>par:</a:t>
            </a:r>
            <a:endParaRPr sz="1800" dirty="0">
              <a:latin typeface="Georgia"/>
              <a:cs typeface="Georgia"/>
            </a:endParaRPr>
          </a:p>
          <a:p>
            <a:pPr marL="12700" marR="4345940">
              <a:lnSpc>
                <a:spcPct val="100000"/>
              </a:lnSpc>
            </a:pPr>
            <a:r>
              <a:rPr sz="1800" dirty="0">
                <a:solidFill>
                  <a:srgbClr val="1C4586"/>
                </a:solidFill>
                <a:latin typeface="Georgia"/>
                <a:cs typeface="Georgia"/>
              </a:rPr>
              <a:t>FARAJI</a:t>
            </a:r>
            <a:r>
              <a:rPr sz="1800" spc="-60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1C4586"/>
                </a:solidFill>
                <a:latin typeface="Georgia"/>
                <a:cs typeface="Georgia"/>
              </a:rPr>
              <a:t>Safae </a:t>
            </a:r>
            <a:r>
              <a:rPr sz="1800" dirty="0">
                <a:solidFill>
                  <a:srgbClr val="1C4586"/>
                </a:solidFill>
                <a:latin typeface="Georgia"/>
                <a:cs typeface="Georgia"/>
              </a:rPr>
              <a:t>MOUKRIM</a:t>
            </a:r>
            <a:r>
              <a:rPr sz="1800" spc="-95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1C4586"/>
                </a:solidFill>
                <a:latin typeface="Georgia"/>
                <a:cs typeface="Georgia"/>
              </a:rPr>
              <a:t>Aya</a:t>
            </a:r>
            <a:endParaRPr sz="1800" dirty="0">
              <a:latin typeface="Georgia"/>
              <a:cs typeface="Georgia"/>
            </a:endParaRPr>
          </a:p>
          <a:p>
            <a:pPr marL="12700" marR="3556000">
              <a:lnSpc>
                <a:spcPct val="100000"/>
              </a:lnSpc>
            </a:pPr>
            <a:r>
              <a:rPr sz="1800" dirty="0">
                <a:solidFill>
                  <a:srgbClr val="1C4586"/>
                </a:solidFill>
                <a:latin typeface="Georgia"/>
                <a:cs typeface="Georgia"/>
              </a:rPr>
              <a:t>RADI</a:t>
            </a:r>
            <a:r>
              <a:rPr sz="1800" spc="-40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1C4586"/>
                </a:solidFill>
                <a:latin typeface="Georgia"/>
                <a:cs typeface="Georgia"/>
              </a:rPr>
              <a:t>Salma </a:t>
            </a:r>
            <a:r>
              <a:rPr sz="1800" dirty="0">
                <a:solidFill>
                  <a:srgbClr val="1C4586"/>
                </a:solidFill>
                <a:latin typeface="Georgia"/>
                <a:cs typeface="Georgia"/>
              </a:rPr>
              <a:t>BENBOUCETTA</a:t>
            </a:r>
            <a:r>
              <a:rPr sz="1800" spc="-100" dirty="0">
                <a:solidFill>
                  <a:srgbClr val="1C4586"/>
                </a:solidFill>
                <a:latin typeface="Georgia"/>
                <a:cs typeface="Georgia"/>
              </a:rPr>
              <a:t> </a:t>
            </a:r>
            <a:r>
              <a:rPr sz="1800" spc="-20" dirty="0" err="1">
                <a:solidFill>
                  <a:srgbClr val="1C4586"/>
                </a:solidFill>
                <a:latin typeface="Georgia"/>
                <a:cs typeface="Georgia"/>
              </a:rPr>
              <a:t>Iman</a:t>
            </a:r>
            <a:r>
              <a:rPr lang="en-US" sz="1800" spc="-20" dirty="0" err="1">
                <a:solidFill>
                  <a:srgbClr val="1C4586"/>
                </a:solidFill>
                <a:latin typeface="Georgia"/>
                <a:cs typeface="Georgia"/>
              </a:rPr>
              <a:t>e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1368" y="902760"/>
            <a:ext cx="1265619" cy="12564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48870" y="890682"/>
            <a:ext cx="1420876" cy="12173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227" y="376580"/>
            <a:ext cx="9559544" cy="57759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7485" y="1712798"/>
            <a:ext cx="5384800" cy="279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2540" algn="ctr">
              <a:lnSpc>
                <a:spcPct val="101400"/>
              </a:lnSpc>
            </a:pPr>
            <a:r>
              <a:rPr sz="6000" spc="-150" dirty="0">
                <a:solidFill>
                  <a:srgbClr val="1C1C1C"/>
                </a:solidFill>
                <a:latin typeface="Arial MT"/>
                <a:cs typeface="Arial MT"/>
              </a:rPr>
              <a:t>Simulateur</a:t>
            </a:r>
            <a:r>
              <a:rPr sz="6000" spc="-2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6000" spc="-25" dirty="0">
                <a:solidFill>
                  <a:srgbClr val="1C1C1C"/>
                </a:solidFill>
                <a:latin typeface="Arial MT"/>
                <a:cs typeface="Arial MT"/>
              </a:rPr>
              <a:t>de </a:t>
            </a:r>
            <a:r>
              <a:rPr sz="6000" spc="-155" dirty="0">
                <a:solidFill>
                  <a:srgbClr val="1C1C1C"/>
                </a:solidFill>
                <a:latin typeface="Arial MT"/>
                <a:cs typeface="Arial MT"/>
              </a:rPr>
              <a:t>Microprocesseur </a:t>
            </a:r>
            <a:r>
              <a:rPr sz="6000" spc="-75" dirty="0">
                <a:solidFill>
                  <a:srgbClr val="1C1C1C"/>
                </a:solidFill>
                <a:latin typeface="Arial MT"/>
                <a:cs typeface="Arial MT"/>
              </a:rPr>
              <a:t>Motorola6809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85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8294" y="2824353"/>
            <a:ext cx="262255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939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solidFill>
                  <a:srgbClr val="000000"/>
                </a:solidFill>
                <a:latin typeface="Georgia"/>
                <a:cs typeface="Georgia"/>
              </a:rPr>
              <a:t>Structure</a:t>
            </a:r>
            <a:r>
              <a:rPr sz="3600" spc="-1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3600" spc="-25" dirty="0">
                <a:solidFill>
                  <a:srgbClr val="000000"/>
                </a:solidFill>
                <a:latin typeface="Georgia"/>
                <a:cs typeface="Georgia"/>
              </a:rPr>
              <a:t>de </a:t>
            </a:r>
            <a:r>
              <a:rPr sz="3600" spc="-10" dirty="0">
                <a:solidFill>
                  <a:srgbClr val="000000"/>
                </a:solidFill>
                <a:latin typeface="Georgia"/>
                <a:cs typeface="Georgia"/>
              </a:rPr>
              <a:t>Présentation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85"/>
              </a:spcBef>
            </a:pP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6542" y="1970633"/>
            <a:ext cx="3135630" cy="27692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ahoma"/>
                <a:cs typeface="Tahoma"/>
              </a:rPr>
              <a:t>Introduction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Architecture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du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Motorola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Organisation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du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projet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Techniques</a:t>
            </a:r>
            <a:r>
              <a:rPr sz="2000" spc="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simulation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85" dirty="0">
                <a:latin typeface="Tahoma"/>
                <a:cs typeface="Tahoma"/>
              </a:rPr>
              <a:t>Les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Interfaces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ahoma"/>
                <a:cs typeface="Tahoma"/>
              </a:rPr>
              <a:t>Conclusion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94359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399"/>
                </a:lnTo>
                <a:lnTo>
                  <a:pt x="914400" y="914399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663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48866" y="457555"/>
            <a:ext cx="2911475" cy="10769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pc="150" dirty="0">
                <a:solidFill>
                  <a:srgbClr val="000000"/>
                </a:solidFill>
                <a:latin typeface="Georgia"/>
                <a:cs typeface="Georgia"/>
              </a:rPr>
              <a:t>1-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Introduction</a:t>
            </a:r>
            <a:r>
              <a:rPr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50" dirty="0">
                <a:solidFill>
                  <a:srgbClr val="000000"/>
                </a:solidFill>
                <a:latin typeface="Georgia"/>
                <a:cs typeface="Georgia"/>
              </a:rPr>
              <a:t>:</a:t>
            </a:r>
          </a:p>
          <a:p>
            <a:pPr marL="350520">
              <a:lnSpc>
                <a:spcPct val="100000"/>
              </a:lnSpc>
              <a:spcBef>
                <a:spcPts val="300"/>
              </a:spcBef>
            </a:pPr>
            <a:r>
              <a:rPr spc="-10" dirty="0">
                <a:solidFill>
                  <a:srgbClr val="000000"/>
                </a:solidFill>
                <a:latin typeface="Tahoma"/>
                <a:cs typeface="Tahoma"/>
              </a:rPr>
              <a:t>Objectif: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48866" y="1508201"/>
            <a:ext cx="9801225" cy="197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Réaliser</a:t>
            </a:r>
            <a:r>
              <a:rPr sz="3200" spc="5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un</a:t>
            </a:r>
            <a:r>
              <a:rPr sz="3200" spc="5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simulateur</a:t>
            </a:r>
            <a:r>
              <a:rPr sz="3200" spc="5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du</a:t>
            </a:r>
            <a:r>
              <a:rPr sz="3200" spc="5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microprocesseur</a:t>
            </a:r>
            <a:r>
              <a:rPr sz="3200" spc="5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Motorola </a:t>
            </a:r>
            <a:r>
              <a:rPr sz="3200" dirty="0">
                <a:latin typeface="Tahoma"/>
                <a:cs typeface="Tahoma"/>
              </a:rPr>
              <a:t>6809,</a:t>
            </a:r>
            <a:r>
              <a:rPr sz="3200" spc="675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offrant</a:t>
            </a:r>
            <a:r>
              <a:rPr sz="3200" spc="670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un</a:t>
            </a:r>
            <a:r>
              <a:rPr sz="3200" spc="680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environnement</a:t>
            </a:r>
            <a:r>
              <a:rPr sz="3200" spc="675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complet</a:t>
            </a:r>
            <a:r>
              <a:rPr sz="3200" spc="670" dirty="0">
                <a:latin typeface="Tahoma"/>
                <a:cs typeface="Tahoma"/>
              </a:rPr>
              <a:t>  </a:t>
            </a:r>
            <a:r>
              <a:rPr sz="3200" spc="-20" dirty="0">
                <a:latin typeface="Tahoma"/>
                <a:cs typeface="Tahoma"/>
              </a:rPr>
              <a:t>pour </a:t>
            </a:r>
            <a:r>
              <a:rPr sz="3200" dirty="0">
                <a:latin typeface="Tahoma"/>
                <a:cs typeface="Tahoma"/>
              </a:rPr>
              <a:t>développer,</a:t>
            </a:r>
            <a:r>
              <a:rPr sz="3200" spc="250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tester</a:t>
            </a:r>
            <a:r>
              <a:rPr sz="3200" spc="254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et</a:t>
            </a:r>
            <a:r>
              <a:rPr sz="3200" spc="245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apprendre</a:t>
            </a:r>
            <a:r>
              <a:rPr sz="3200" spc="250" dirty="0">
                <a:latin typeface="Tahoma"/>
                <a:cs typeface="Tahoma"/>
              </a:rPr>
              <a:t>  </a:t>
            </a:r>
            <a:r>
              <a:rPr sz="3200" spc="75" dirty="0">
                <a:latin typeface="Tahoma"/>
                <a:cs typeface="Tahoma"/>
              </a:rPr>
              <a:t>les</a:t>
            </a:r>
            <a:r>
              <a:rPr sz="3200" spc="245" dirty="0">
                <a:latin typeface="Tahoma"/>
                <a:cs typeface="Tahoma"/>
              </a:rPr>
              <a:t>  </a:t>
            </a:r>
            <a:r>
              <a:rPr sz="3200" spc="-10" dirty="0">
                <a:latin typeface="Tahoma"/>
                <a:cs typeface="Tahoma"/>
              </a:rPr>
              <a:t>programmes </a:t>
            </a:r>
            <a:r>
              <a:rPr sz="3200" dirty="0">
                <a:latin typeface="Tahoma"/>
                <a:cs typeface="Tahoma"/>
              </a:rPr>
              <a:t>spécifiquement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70" dirty="0">
                <a:latin typeface="Tahoma"/>
                <a:cs typeface="Tahoma"/>
              </a:rPr>
              <a:t>conçus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pour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110" dirty="0">
                <a:latin typeface="Tahoma"/>
                <a:cs typeface="Tahoma"/>
              </a:rPr>
              <a:t>ce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processeur.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8960" y="4193540"/>
            <a:ext cx="5151120" cy="9779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3119" y="4193540"/>
            <a:ext cx="4315460" cy="9779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13153" y="5345379"/>
            <a:ext cx="2192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Développement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7509" y="5329834"/>
            <a:ext cx="770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Tests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72650" y="5390489"/>
            <a:ext cx="1972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Apprentissage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94359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399"/>
                </a:lnTo>
                <a:lnTo>
                  <a:pt x="914400" y="914399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663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6804" y="301878"/>
            <a:ext cx="4969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000000"/>
                </a:solidFill>
                <a:latin typeface="Georgia"/>
                <a:cs typeface="Georgia"/>
              </a:rPr>
              <a:t>2-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Architecture</a:t>
            </a:r>
            <a:r>
              <a:rPr spc="114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de</a:t>
            </a:r>
            <a:r>
              <a:rPr spc="10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Motorola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6804" y="1307972"/>
            <a:ext cx="5462905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 indent="-151130">
              <a:lnSpc>
                <a:spcPct val="100000"/>
              </a:lnSpc>
              <a:spcBef>
                <a:spcPts val="105"/>
              </a:spcBef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Processeur</a:t>
            </a:r>
            <a:r>
              <a:rPr sz="3200" spc="-8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8</a:t>
            </a:r>
            <a:r>
              <a:rPr sz="32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1D1D1F"/>
                </a:solidFill>
                <a:latin typeface="Calibri"/>
                <a:cs typeface="Calibri"/>
              </a:rPr>
              <a:t>bits</a:t>
            </a:r>
            <a:endParaRPr sz="3200">
              <a:latin typeface="Calibri"/>
              <a:cs typeface="Calibri"/>
            </a:endParaRPr>
          </a:p>
          <a:p>
            <a:pPr marL="155575" indent="-151130">
              <a:lnSpc>
                <a:spcPct val="100000"/>
              </a:lnSpc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16</a:t>
            </a:r>
            <a:r>
              <a:rPr sz="32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bits</a:t>
            </a:r>
            <a:r>
              <a:rPr sz="32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pour</a:t>
            </a:r>
            <a:r>
              <a:rPr sz="32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les</a:t>
            </a:r>
            <a:r>
              <a:rPr sz="32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D1D1F"/>
                </a:solidFill>
                <a:latin typeface="Calibri"/>
                <a:cs typeface="Calibri"/>
              </a:rPr>
              <a:t>adresses</a:t>
            </a:r>
            <a:endParaRPr sz="3200">
              <a:latin typeface="Calibri"/>
              <a:cs typeface="Calibri"/>
            </a:endParaRPr>
          </a:p>
          <a:p>
            <a:pPr marL="12700" marR="5080" indent="-7620">
              <a:lnSpc>
                <a:spcPct val="100000"/>
              </a:lnSpc>
              <a:buSzPct val="96875"/>
              <a:buFont typeface="Arial MT"/>
              <a:buChar char="•"/>
              <a:tabLst>
                <a:tab pos="155575" algn="l"/>
                <a:tab pos="553085" algn="l"/>
              </a:tabLst>
            </a:pP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	Registres</a:t>
            </a:r>
            <a:r>
              <a:rPr sz="3200" spc="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puissants</a:t>
            </a:r>
            <a:r>
              <a:rPr sz="3200" spc="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(A,</a:t>
            </a:r>
            <a:r>
              <a:rPr sz="3200" spc="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B,</a:t>
            </a:r>
            <a:r>
              <a:rPr sz="3200" spc="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X,</a:t>
            </a:r>
            <a:r>
              <a:rPr sz="3200" spc="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spc="-114" dirty="0">
                <a:solidFill>
                  <a:srgbClr val="1D1D1F"/>
                </a:solidFill>
                <a:latin typeface="Calibri"/>
                <a:cs typeface="Calibri"/>
              </a:rPr>
              <a:t>Y,</a:t>
            </a:r>
            <a:r>
              <a:rPr sz="3200" spc="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1D1D1F"/>
                </a:solidFill>
                <a:latin typeface="Calibri"/>
                <a:cs typeface="Calibri"/>
              </a:rPr>
              <a:t>S, U,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1D1D1F"/>
                </a:solidFill>
                <a:latin typeface="Calibri"/>
                <a:cs typeface="Calibri"/>
              </a:rPr>
              <a:t>PC)</a:t>
            </a:r>
            <a:endParaRPr sz="3200">
              <a:latin typeface="Calibri"/>
              <a:cs typeface="Calibri"/>
            </a:endParaRPr>
          </a:p>
          <a:p>
            <a:pPr marL="155575" indent="-151130">
              <a:lnSpc>
                <a:spcPct val="100000"/>
              </a:lnSpc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8</a:t>
            </a:r>
            <a:r>
              <a:rPr sz="32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modes</a:t>
            </a:r>
            <a:r>
              <a:rPr sz="32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D1D1F"/>
                </a:solidFill>
                <a:latin typeface="Calibri"/>
                <a:cs typeface="Calibri"/>
              </a:rPr>
              <a:t>d’adressage</a:t>
            </a:r>
            <a:endParaRPr sz="3200">
              <a:latin typeface="Calibri"/>
              <a:cs typeface="Calibri"/>
            </a:endParaRPr>
          </a:p>
          <a:p>
            <a:pPr marL="155575" indent="-150495">
              <a:lnSpc>
                <a:spcPct val="100000"/>
              </a:lnSpc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Jeu</a:t>
            </a:r>
            <a:r>
              <a:rPr sz="3200" spc="-9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d’instructions</a:t>
            </a:r>
            <a:r>
              <a:rPr sz="32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D1D1F"/>
                </a:solidFill>
                <a:latin typeface="Calibri"/>
                <a:cs typeface="Calibri"/>
              </a:rPr>
              <a:t>complet</a:t>
            </a:r>
            <a:endParaRPr sz="3200">
              <a:latin typeface="Calibri"/>
              <a:cs typeface="Calibri"/>
            </a:endParaRPr>
          </a:p>
          <a:p>
            <a:pPr marL="155575" indent="-151130">
              <a:lnSpc>
                <a:spcPct val="100000"/>
              </a:lnSpc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Boîtier</a:t>
            </a:r>
            <a:r>
              <a:rPr sz="32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Calibri"/>
                <a:cs typeface="Calibri"/>
              </a:rPr>
              <a:t>40</a:t>
            </a:r>
            <a:r>
              <a:rPr sz="3200" spc="-10" dirty="0">
                <a:solidFill>
                  <a:srgbClr val="1D1D1F"/>
                </a:solidFill>
                <a:latin typeface="Calibri"/>
                <a:cs typeface="Calibri"/>
              </a:rPr>
              <a:t> broches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6240" y="1290319"/>
            <a:ext cx="4759959" cy="38912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008368" y="1673284"/>
            <a:ext cx="1553845" cy="84328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sz="1800" spc="-45" dirty="0">
                <a:solidFill>
                  <a:srgbClr val="252525"/>
                </a:solidFill>
                <a:latin typeface="Calibri"/>
                <a:cs typeface="Calibri"/>
              </a:rPr>
              <a:t>Interface</a:t>
            </a:r>
            <a:r>
              <a:rPr sz="1800" spc="-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externe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990"/>
              </a:spcBef>
            </a:pPr>
            <a:r>
              <a:rPr sz="2000" dirty="0">
                <a:solidFill>
                  <a:srgbClr val="08223A"/>
                </a:solidFill>
                <a:latin typeface="Calibri"/>
                <a:cs typeface="Calibri"/>
              </a:rPr>
              <a:t>8</a:t>
            </a:r>
            <a:r>
              <a:rPr sz="2000" spc="-245" dirty="0">
                <a:solidFill>
                  <a:srgbClr val="08223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D2236"/>
                </a:solidFill>
                <a:latin typeface="Calibri"/>
                <a:cs typeface="Calibri"/>
              </a:rPr>
              <a:t>bits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57561" y="4031881"/>
            <a:ext cx="1559560" cy="7175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000" spc="-10" dirty="0">
                <a:solidFill>
                  <a:srgbClr val="B68655"/>
                </a:solidFill>
                <a:latin typeface="Calibri"/>
                <a:cs typeface="Calibri"/>
              </a:rPr>
              <a:t>Architecture</a:t>
            </a:r>
            <a:endParaRPr sz="20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415"/>
              </a:spcBef>
            </a:pPr>
            <a:r>
              <a:rPr sz="1800" spc="75" dirty="0">
                <a:solidFill>
                  <a:srgbClr val="9A6F48"/>
                </a:solidFill>
                <a:latin typeface="Calibri"/>
                <a:cs typeface="Calibri"/>
              </a:rPr>
              <a:t>i</a:t>
            </a:r>
            <a:r>
              <a:rPr sz="1800" spc="75" dirty="0">
                <a:solidFill>
                  <a:srgbClr val="A86938"/>
                </a:solidFill>
                <a:latin typeface="Calibri"/>
                <a:cs typeface="Calibri"/>
              </a:rPr>
              <a:t>nterne</a:t>
            </a:r>
            <a:r>
              <a:rPr sz="1800" spc="409" dirty="0">
                <a:solidFill>
                  <a:srgbClr val="A869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B66F30"/>
                </a:solidFill>
                <a:latin typeface="Calibri"/>
                <a:cs typeface="Calibri"/>
              </a:rPr>
              <a:t>16</a:t>
            </a:r>
            <a:r>
              <a:rPr sz="1800" spc="254" dirty="0">
                <a:solidFill>
                  <a:srgbClr val="B66F3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AD6D39"/>
                </a:solidFill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938" y="1142161"/>
            <a:ext cx="10198862" cy="50904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00"/>
              </a:spcBef>
            </a:pPr>
            <a:r>
              <a:rPr sz="3600" spc="155" dirty="0">
                <a:solidFill>
                  <a:srgbClr val="000000"/>
                </a:solidFill>
                <a:latin typeface="Tahoma"/>
                <a:cs typeface="Tahoma"/>
              </a:rPr>
              <a:t>Les</a:t>
            </a:r>
            <a:r>
              <a:rPr sz="3600" spc="-6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600" dirty="0">
                <a:solidFill>
                  <a:srgbClr val="000000"/>
                </a:solidFill>
                <a:latin typeface="Tahoma"/>
                <a:cs typeface="Tahoma"/>
              </a:rPr>
              <a:t>registres</a:t>
            </a:r>
            <a:r>
              <a:rPr sz="3600" spc="-7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600" dirty="0">
                <a:solidFill>
                  <a:srgbClr val="000000"/>
                </a:solidFill>
                <a:latin typeface="Tahoma"/>
                <a:cs typeface="Tahoma"/>
              </a:rPr>
              <a:t>du</a:t>
            </a:r>
            <a:r>
              <a:rPr sz="3600" spc="-9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600" spc="-10" dirty="0"/>
              <a:t>Microprocesseur</a:t>
            </a:r>
            <a:r>
              <a:rPr sz="3600" spc="25" dirty="0"/>
              <a:t> </a:t>
            </a:r>
            <a:r>
              <a:rPr sz="3600" spc="-20" dirty="0"/>
              <a:t>6809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6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Accumulateurs</a:t>
            </a:r>
            <a:r>
              <a:rPr sz="3600" spc="-60" dirty="0"/>
              <a:t> </a:t>
            </a:r>
            <a:r>
              <a:rPr sz="3600" dirty="0"/>
              <a:t>A</a:t>
            </a:r>
            <a:r>
              <a:rPr sz="3600" spc="-30" dirty="0"/>
              <a:t> </a:t>
            </a:r>
            <a:r>
              <a:rPr sz="3600" dirty="0"/>
              <a:t>,</a:t>
            </a:r>
            <a:r>
              <a:rPr sz="3600" spc="-30" dirty="0"/>
              <a:t> </a:t>
            </a:r>
            <a:r>
              <a:rPr sz="3600" dirty="0"/>
              <a:t>B</a:t>
            </a:r>
            <a:r>
              <a:rPr sz="3600" spc="-30" dirty="0"/>
              <a:t> </a:t>
            </a:r>
            <a:r>
              <a:rPr sz="3600" dirty="0"/>
              <a:t>et</a:t>
            </a:r>
            <a:r>
              <a:rPr sz="3600" spc="-30" dirty="0"/>
              <a:t> </a:t>
            </a:r>
            <a:r>
              <a:rPr sz="3600" spc="-50" dirty="0"/>
              <a:t>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67713" y="998982"/>
            <a:ext cx="3570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Accumulateurs</a:t>
            </a:r>
            <a:r>
              <a:rPr sz="2400" spc="-7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8</a:t>
            </a:r>
            <a:r>
              <a:rPr sz="24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bits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:</a:t>
            </a:r>
            <a:r>
              <a:rPr sz="24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et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D1D1F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7713" y="1364437"/>
            <a:ext cx="490918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Ce</a:t>
            </a:r>
            <a:r>
              <a:rPr sz="24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sont</a:t>
            </a:r>
            <a:r>
              <a:rPr sz="24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les</a:t>
            </a:r>
            <a:r>
              <a:rPr sz="24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registres</a:t>
            </a:r>
            <a:r>
              <a:rPr sz="24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principaux</a:t>
            </a:r>
            <a:r>
              <a:rPr sz="24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pour</a:t>
            </a:r>
            <a:r>
              <a:rPr sz="24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D1D1F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8128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Faire</a:t>
            </a:r>
            <a:r>
              <a:rPr sz="24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des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calculs</a:t>
            </a:r>
            <a:r>
              <a:rPr sz="24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arithmétiques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Comparer</a:t>
            </a:r>
            <a:r>
              <a:rPr sz="24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des</a:t>
            </a:r>
            <a:r>
              <a:rPr sz="24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valeurs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Manipuler</a:t>
            </a:r>
            <a:r>
              <a:rPr sz="2400" spc="-7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les</a:t>
            </a:r>
            <a:r>
              <a:rPr sz="2400" spc="-6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données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Ils</a:t>
            </a:r>
            <a:r>
              <a:rPr sz="24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sont</a:t>
            </a:r>
            <a:r>
              <a:rPr sz="24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généralement</a:t>
            </a:r>
            <a:r>
              <a:rPr sz="2400" spc="-6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interchangeables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7713" y="3559809"/>
            <a:ext cx="581342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Accumulateur</a:t>
            </a:r>
            <a:r>
              <a:rPr sz="24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16</a:t>
            </a:r>
            <a:r>
              <a:rPr sz="24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bits</a:t>
            </a:r>
            <a:r>
              <a:rPr sz="24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:</a:t>
            </a:r>
            <a:r>
              <a:rPr sz="24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D1D1F"/>
                </a:solidFill>
                <a:latin typeface="Calibri"/>
                <a:cs typeface="Calibri"/>
              </a:rPr>
              <a:t>D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</a:t>
            </a:r>
            <a:r>
              <a:rPr sz="2400" spc="26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=</a:t>
            </a:r>
            <a:r>
              <a:rPr sz="2400" spc="27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A</a:t>
            </a:r>
            <a:r>
              <a:rPr sz="2400" spc="27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+</a:t>
            </a:r>
            <a:r>
              <a:rPr sz="2400" spc="27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B</a:t>
            </a:r>
            <a:r>
              <a:rPr sz="2400" spc="27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→</a:t>
            </a:r>
            <a:r>
              <a:rPr sz="2400" spc="28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c’est</a:t>
            </a:r>
            <a:r>
              <a:rPr sz="2400" spc="28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la</a:t>
            </a:r>
            <a:r>
              <a:rPr sz="2400" spc="26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concaténation</a:t>
            </a:r>
            <a:r>
              <a:rPr sz="2400" spc="28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des</a:t>
            </a:r>
            <a:r>
              <a:rPr sz="2400" spc="28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deux 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accumulateurs.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octet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poids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 fort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B</a:t>
            </a:r>
            <a:r>
              <a:rPr sz="24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octet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poids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D1F"/>
                </a:solidFill>
                <a:latin typeface="Calibri"/>
                <a:cs typeface="Calibri"/>
              </a:rPr>
              <a:t>faible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Permet</a:t>
            </a:r>
            <a:r>
              <a:rPr sz="2400" spc="-6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d’effectuer</a:t>
            </a:r>
            <a:r>
              <a:rPr sz="2400" spc="-5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des</a:t>
            </a:r>
            <a:r>
              <a:rPr sz="24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opérations</a:t>
            </a:r>
            <a:r>
              <a:rPr sz="24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sur</a:t>
            </a:r>
            <a:r>
              <a:rPr sz="2400" spc="-5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D1F"/>
                </a:solidFill>
                <a:latin typeface="Calibri"/>
                <a:cs typeface="Calibri"/>
              </a:rPr>
              <a:t>16</a:t>
            </a:r>
            <a:r>
              <a:rPr sz="2400" spc="-6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D1F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7090" y="2011679"/>
            <a:ext cx="2231390" cy="1828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3730" y="2011679"/>
            <a:ext cx="2190750" cy="1828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5680" y="3961129"/>
            <a:ext cx="4356100" cy="1291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25308" y="1585976"/>
            <a:ext cx="1518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solidFill>
                  <a:srgbClr val="393939"/>
                </a:solidFill>
                <a:latin typeface="Calibri"/>
                <a:cs typeface="Calibri"/>
              </a:rPr>
              <a:t>Octet</a:t>
            </a:r>
            <a:r>
              <a:rPr sz="1800" spc="-125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1800" i="1" spc="-85" dirty="0">
                <a:solidFill>
                  <a:srgbClr val="424242"/>
                </a:solidFill>
                <a:latin typeface="Calibri"/>
                <a:cs typeface="Calibri"/>
              </a:rPr>
              <a:t>de</a:t>
            </a:r>
            <a:r>
              <a:rPr sz="1800" i="1" spc="-1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800" i="1" spc="-70" dirty="0">
                <a:solidFill>
                  <a:srgbClr val="3A3A3A"/>
                </a:solidFill>
                <a:latin typeface="Calibri"/>
                <a:cs typeface="Calibri"/>
              </a:rPr>
              <a:t>poids</a:t>
            </a:r>
            <a:r>
              <a:rPr sz="1800" i="1" spc="-9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65" dirty="0">
                <a:solidFill>
                  <a:srgbClr val="3A3A3A"/>
                </a:solidFill>
                <a:latin typeface="Calibri"/>
                <a:cs typeface="Calibri"/>
              </a:rPr>
              <a:t>fort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7 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801606" y="1540002"/>
            <a:ext cx="167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solidFill>
                  <a:srgbClr val="3C3C3C"/>
                </a:solidFill>
                <a:latin typeface="Calibri"/>
                <a:cs typeface="Calibri"/>
              </a:rPr>
              <a:t>Octet</a:t>
            </a:r>
            <a:r>
              <a:rPr sz="1800" spc="-1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i="1" spc="-85" dirty="0">
                <a:solidFill>
                  <a:srgbClr val="3E3E3E"/>
                </a:solidFill>
                <a:latin typeface="Calibri"/>
                <a:cs typeface="Calibri"/>
              </a:rPr>
              <a:t>de</a:t>
            </a:r>
            <a:r>
              <a:rPr sz="1800" i="1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343434"/>
                </a:solidFill>
                <a:latin typeface="Calibri"/>
                <a:cs typeface="Calibri"/>
              </a:rPr>
              <a:t>poids</a:t>
            </a:r>
            <a:r>
              <a:rPr sz="1800" i="1" spc="-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800" i="1" spc="-120" dirty="0">
                <a:solidFill>
                  <a:srgbClr val="3A3A3A"/>
                </a:solidFill>
                <a:latin typeface="Calibri"/>
                <a:cs typeface="Calibri"/>
              </a:rPr>
              <a:t>faible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Registres</a:t>
            </a:r>
            <a:r>
              <a:rPr sz="3600" spc="-25" dirty="0"/>
              <a:t> </a:t>
            </a:r>
            <a:r>
              <a:rPr sz="3600" dirty="0"/>
              <a:t>d’index</a:t>
            </a:r>
            <a:r>
              <a:rPr sz="3600" spc="-45" dirty="0"/>
              <a:t> </a:t>
            </a:r>
            <a:r>
              <a:rPr sz="3600" dirty="0"/>
              <a:t>et</a:t>
            </a:r>
            <a:r>
              <a:rPr sz="3600" spc="-40" dirty="0"/>
              <a:t> </a:t>
            </a:r>
            <a:r>
              <a:rPr sz="3600" dirty="0"/>
              <a:t>Pointeurs</a:t>
            </a:r>
            <a:r>
              <a:rPr sz="3600" spc="-30" dirty="0"/>
              <a:t> </a:t>
            </a:r>
            <a:r>
              <a:rPr sz="3600" dirty="0"/>
              <a:t>de</a:t>
            </a:r>
            <a:r>
              <a:rPr sz="3600" spc="-15" dirty="0"/>
              <a:t> </a:t>
            </a:r>
            <a:r>
              <a:rPr sz="3600" spc="-20" dirty="0"/>
              <a:t>Pile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903211" y="910843"/>
            <a:ext cx="513080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1D1D1F"/>
                </a:solidFill>
                <a:latin typeface="Calibri"/>
                <a:cs typeface="Calibri"/>
              </a:rPr>
              <a:t>Pointeurs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8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Pile</a:t>
            </a:r>
            <a:r>
              <a:rPr sz="28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16</a:t>
            </a:r>
            <a:r>
              <a:rPr sz="28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bits:</a:t>
            </a:r>
            <a:r>
              <a:rPr sz="28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S</a:t>
            </a:r>
            <a:r>
              <a:rPr sz="28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et</a:t>
            </a:r>
            <a:r>
              <a:rPr sz="28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U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  <a:tab pos="772795" algn="l"/>
                <a:tab pos="2050414" algn="l"/>
                <a:tab pos="2952115" algn="l"/>
                <a:tab pos="4244975" algn="l"/>
                <a:tab pos="4479925" algn="l"/>
              </a:tabLst>
            </a:pP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S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(System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1D1D1F"/>
                </a:solidFill>
                <a:latin typeface="Calibri"/>
                <a:cs typeface="Calibri"/>
              </a:rPr>
              <a:t>Stack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Pointer)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: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géré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automatiquement</a:t>
            </a:r>
            <a:endParaRPr sz="2800">
              <a:latin typeface="Calibri"/>
              <a:cs typeface="Calibri"/>
            </a:endParaRPr>
          </a:p>
          <a:p>
            <a:pPr marL="12700" marR="5080" indent="80645">
              <a:lnSpc>
                <a:spcPct val="100000"/>
              </a:lnSpc>
              <a:tabLst>
                <a:tab pos="614045" algn="l"/>
                <a:tab pos="2456815" algn="l"/>
                <a:tab pos="3159760" algn="l"/>
                <a:tab pos="4591050" algn="l"/>
              </a:tabLst>
            </a:pP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→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sauvegarde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des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registres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lors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des</a:t>
            </a: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appels</a:t>
            </a:r>
            <a:r>
              <a:rPr sz="28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ou</a:t>
            </a:r>
            <a:r>
              <a:rPr sz="28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interruptions.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U</a:t>
            </a:r>
            <a:r>
              <a:rPr sz="28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(User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Stack</a:t>
            </a:r>
            <a:r>
              <a:rPr sz="28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Pointer)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:</a:t>
            </a:r>
            <a:r>
              <a:rPr sz="28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géré</a:t>
            </a:r>
            <a:r>
              <a:rPr sz="28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par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le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 programmeur</a:t>
            </a:r>
            <a:endParaRPr sz="2800">
              <a:latin typeface="Calibri"/>
              <a:cs typeface="Calibri"/>
            </a:endParaRPr>
          </a:p>
          <a:p>
            <a:pPr marL="12700" marR="7620">
              <a:lnSpc>
                <a:spcPct val="100000"/>
              </a:lnSpc>
              <a:spcBef>
                <a:spcPts val="5"/>
              </a:spcBef>
              <a:tabLst>
                <a:tab pos="822960" algn="l"/>
                <a:tab pos="2010410" algn="l"/>
                <a:tab pos="3187065" algn="l"/>
                <a:tab pos="4612640" algn="l"/>
              </a:tabLst>
            </a:pP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→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idéal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1D1D1F"/>
                </a:solidFill>
                <a:latin typeface="Calibri"/>
                <a:cs typeface="Calibri"/>
              </a:rPr>
              <a:t>pour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passer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des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paramètres.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27338" y="4751959"/>
            <a:ext cx="3105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95"/>
              </a:spcBef>
              <a:tabLst>
                <a:tab pos="1490980" algn="l"/>
                <a:tab pos="1858010" algn="l"/>
                <a:tab pos="2501265" algn="l"/>
              </a:tabLst>
            </a:pP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peuvent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aussi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être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comme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	</a:t>
            </a:r>
            <a:r>
              <a:rPr sz="2800" spc="-20" dirty="0">
                <a:solidFill>
                  <a:srgbClr val="1D1D1F"/>
                </a:solidFill>
                <a:latin typeface="Calibri"/>
                <a:cs typeface="Calibri"/>
              </a:rPr>
              <a:t>registres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3211" y="4751959"/>
            <a:ext cx="1755139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  <a:tab pos="926465" algn="l"/>
                <a:tab pos="1513840" algn="l"/>
              </a:tabLst>
            </a:pP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S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et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U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utilisés d’index.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310" y="5051590"/>
            <a:ext cx="2559050" cy="5791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4869" y="5018074"/>
            <a:ext cx="2428240" cy="5791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0310" y="5852159"/>
            <a:ext cx="2559050" cy="5791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16679" y="5852159"/>
            <a:ext cx="2392679" cy="5791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8159" y="4619497"/>
            <a:ext cx="2027555" cy="1945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0310" y="4635627"/>
            <a:ext cx="2151379" cy="1945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14069" y="946785"/>
            <a:ext cx="4965700" cy="38817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Registres</a:t>
            </a:r>
            <a:r>
              <a:rPr sz="28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d’index</a:t>
            </a:r>
            <a:r>
              <a:rPr sz="28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16</a:t>
            </a:r>
            <a:r>
              <a:rPr sz="28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bits</a:t>
            </a:r>
            <a:r>
              <a:rPr sz="28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:</a:t>
            </a:r>
            <a:r>
              <a:rPr sz="28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X</a:t>
            </a:r>
            <a:r>
              <a:rPr sz="28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et</a:t>
            </a: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 Y</a:t>
            </a:r>
            <a:endParaRPr sz="2800">
              <a:latin typeface="Calibri"/>
              <a:cs typeface="Calibri"/>
            </a:endParaRPr>
          </a:p>
          <a:p>
            <a:pPr marL="467995" indent="-455295" algn="just">
              <a:lnSpc>
                <a:spcPct val="100000"/>
              </a:lnSpc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Utilisés</a:t>
            </a:r>
            <a:r>
              <a:rPr sz="2800" spc="560" dirty="0">
                <a:solidFill>
                  <a:srgbClr val="1D1D1F"/>
                </a:solidFill>
                <a:latin typeface="Calibri"/>
                <a:cs typeface="Calibri"/>
              </a:rPr>
              <a:t> 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pour</a:t>
            </a:r>
            <a:r>
              <a:rPr sz="2800" spc="550" dirty="0">
                <a:solidFill>
                  <a:srgbClr val="1D1D1F"/>
                </a:solidFill>
                <a:latin typeface="Calibri"/>
                <a:cs typeface="Calibri"/>
              </a:rPr>
              <a:t> 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les</a:t>
            </a:r>
            <a:r>
              <a:rPr sz="2800" spc="560" dirty="0">
                <a:solidFill>
                  <a:srgbClr val="1D1D1F"/>
                </a:solidFill>
                <a:latin typeface="Calibri"/>
                <a:cs typeface="Calibri"/>
              </a:rPr>
              <a:t>  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modes</a:t>
            </a:r>
            <a:endParaRPr sz="28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</a:pP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d’adressage</a:t>
            </a:r>
            <a:r>
              <a:rPr sz="2800" spc="-10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indexé.</a:t>
            </a:r>
            <a:endParaRPr sz="2800">
              <a:latin typeface="Calibri"/>
              <a:cs typeface="Calibri"/>
            </a:endParaRPr>
          </a:p>
          <a:p>
            <a:pPr marL="467995" marR="5080" indent="-455295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Contiennent</a:t>
            </a:r>
            <a:r>
              <a:rPr sz="2800" spc="175" dirty="0">
                <a:solidFill>
                  <a:srgbClr val="1D1D1F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une</a:t>
            </a:r>
            <a:r>
              <a:rPr sz="2800" spc="175" dirty="0">
                <a:solidFill>
                  <a:srgbClr val="1D1D1F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adresse</a:t>
            </a:r>
            <a:r>
              <a:rPr sz="2800" spc="180" dirty="0">
                <a:solidFill>
                  <a:srgbClr val="1D1D1F"/>
                </a:solidFill>
                <a:latin typeface="Calibri"/>
                <a:cs typeface="Calibri"/>
              </a:rPr>
              <a:t>  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de 	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base</a:t>
            </a:r>
            <a:r>
              <a:rPr sz="2800" spc="670" dirty="0">
                <a:solidFill>
                  <a:srgbClr val="1D1D1F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→</a:t>
            </a:r>
            <a:r>
              <a:rPr sz="2800" spc="680" dirty="0">
                <a:solidFill>
                  <a:srgbClr val="1D1D1F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modifiée</a:t>
            </a:r>
            <a:r>
              <a:rPr sz="2800" spc="670" dirty="0">
                <a:solidFill>
                  <a:srgbClr val="1D1D1F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par</a:t>
            </a:r>
            <a:r>
              <a:rPr sz="2800" spc="670" dirty="0">
                <a:solidFill>
                  <a:srgbClr val="1D1D1F"/>
                </a:solidFill>
                <a:latin typeface="Calibri"/>
                <a:cs typeface="Calibri"/>
              </a:rPr>
              <a:t>  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un 	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déplacement</a:t>
            </a:r>
            <a:r>
              <a:rPr sz="2800" spc="-1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(offset).</a:t>
            </a:r>
            <a:endParaRPr sz="2800">
              <a:latin typeface="Calibri"/>
              <a:cs typeface="Calibri"/>
            </a:endParaRPr>
          </a:p>
          <a:p>
            <a:pPr marL="467995" marR="8255" indent="-45529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Peuvent</a:t>
            </a:r>
            <a:r>
              <a:rPr sz="2800" spc="575" dirty="0">
                <a:solidFill>
                  <a:srgbClr val="1D1D1F"/>
                </a:solidFill>
                <a:latin typeface="Calibri"/>
                <a:cs typeface="Calibri"/>
              </a:rPr>
              <a:t> 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aussi</a:t>
            </a:r>
            <a:r>
              <a:rPr sz="2800" spc="580" dirty="0">
                <a:solidFill>
                  <a:srgbClr val="1D1D1F"/>
                </a:solidFill>
                <a:latin typeface="Calibri"/>
                <a:cs typeface="Calibri"/>
              </a:rPr>
              <a:t>  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servir</a:t>
            </a:r>
            <a:r>
              <a:rPr sz="2800" spc="575" dirty="0">
                <a:solidFill>
                  <a:srgbClr val="1D1D1F"/>
                </a:solidFill>
                <a:latin typeface="Calibri"/>
                <a:cs typeface="Calibri"/>
              </a:rPr>
              <a:t>   </a:t>
            </a:r>
            <a:r>
              <a:rPr sz="2800" spc="-25" dirty="0">
                <a:solidFill>
                  <a:srgbClr val="1D1D1F"/>
                </a:solidFill>
                <a:latin typeface="Calibri"/>
                <a:cs typeface="Calibri"/>
              </a:rPr>
              <a:t>de 	</a:t>
            </a:r>
            <a:r>
              <a:rPr sz="2800" spc="-10" dirty="0">
                <a:solidFill>
                  <a:srgbClr val="1D1D1F"/>
                </a:solidFill>
                <a:latin typeface="Calibri"/>
                <a:cs typeface="Calibri"/>
              </a:rPr>
              <a:t>compteurs</a:t>
            </a:r>
            <a:r>
              <a:rPr sz="2800" spc="-6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800" spc="-9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F"/>
                </a:solidFill>
                <a:latin typeface="Calibri"/>
                <a:cs typeface="Calibri"/>
              </a:rPr>
              <a:t>boucle</a:t>
            </a:r>
            <a:r>
              <a:rPr sz="2800" spc="-8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1D1D1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0955" algn="ctr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latin typeface="Tahoma"/>
                <a:cs typeface="Tahoma"/>
              </a:rPr>
              <a:t>16bits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8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6441" y="218643"/>
            <a:ext cx="78193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Contrôle</a:t>
            </a:r>
            <a:r>
              <a:rPr sz="3600" spc="-65" dirty="0"/>
              <a:t> </a:t>
            </a:r>
            <a:r>
              <a:rPr sz="3600" dirty="0"/>
              <a:t>de</a:t>
            </a:r>
            <a:r>
              <a:rPr sz="3600" spc="-55" dirty="0"/>
              <a:t> </a:t>
            </a:r>
            <a:r>
              <a:rPr sz="3600" dirty="0"/>
              <a:t>flux</a:t>
            </a:r>
            <a:r>
              <a:rPr sz="3600" spc="-50" dirty="0"/>
              <a:t> </a:t>
            </a:r>
            <a:r>
              <a:rPr sz="3600" dirty="0"/>
              <a:t>et</a:t>
            </a:r>
            <a:r>
              <a:rPr sz="3600" spc="-45" dirty="0"/>
              <a:t> </a:t>
            </a:r>
            <a:r>
              <a:rPr sz="3600" dirty="0"/>
              <a:t>de</a:t>
            </a:r>
            <a:r>
              <a:rPr sz="3600" spc="-65" dirty="0"/>
              <a:t> </a:t>
            </a:r>
            <a:r>
              <a:rPr sz="3600" spc="-40" dirty="0"/>
              <a:t>l’état</a:t>
            </a:r>
            <a:r>
              <a:rPr sz="3600" spc="-45" dirty="0"/>
              <a:t> </a:t>
            </a:r>
            <a:r>
              <a:rPr sz="3600" dirty="0"/>
              <a:t>:</a:t>
            </a:r>
            <a:r>
              <a:rPr sz="3600" spc="-45" dirty="0"/>
              <a:t> </a:t>
            </a:r>
            <a:r>
              <a:rPr sz="3600" dirty="0"/>
              <a:t>PC,DP</a:t>
            </a:r>
            <a:r>
              <a:rPr sz="3600" spc="-45" dirty="0"/>
              <a:t> </a:t>
            </a:r>
            <a:r>
              <a:rPr sz="3600" dirty="0"/>
              <a:t>et</a:t>
            </a:r>
            <a:r>
              <a:rPr sz="3600" spc="-45" dirty="0"/>
              <a:t> </a:t>
            </a:r>
            <a:r>
              <a:rPr sz="3600" spc="-25" dirty="0"/>
              <a:t>CCR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96441" y="1012316"/>
            <a:ext cx="6518275" cy="459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PC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(Program</a:t>
            </a:r>
            <a:r>
              <a:rPr sz="20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Counter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16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bits):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  <a:tabLst>
                <a:tab pos="4766310" algn="l"/>
              </a:tabLst>
            </a:pP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Contient</a:t>
            </a:r>
            <a:r>
              <a:rPr sz="20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toujours</a:t>
            </a:r>
            <a:r>
              <a:rPr sz="20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l’adresse</a:t>
            </a:r>
            <a:r>
              <a:rPr sz="20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la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prochaine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instruction.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</a:pP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→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il</a:t>
            </a:r>
            <a:r>
              <a:rPr sz="2000" spc="-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dirige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l’exécution.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DP</a:t>
            </a:r>
            <a:r>
              <a:rPr sz="20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(Direct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Page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Register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8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bits):</a:t>
            </a:r>
            <a:endParaRPr sz="2000">
              <a:latin typeface="Calibri"/>
              <a:cs typeface="Calibri"/>
            </a:endParaRPr>
          </a:p>
          <a:p>
            <a:pPr marL="12700" marR="5080" indent="57785">
              <a:lnSpc>
                <a:spcPct val="100000"/>
              </a:lnSpc>
            </a:pP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Permet</a:t>
            </a:r>
            <a:r>
              <a:rPr sz="2000" spc="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d’étendre</a:t>
            </a:r>
            <a:r>
              <a:rPr sz="2000" spc="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le</a:t>
            </a:r>
            <a:r>
              <a:rPr sz="2000" spc="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mode</a:t>
            </a:r>
            <a:r>
              <a:rPr sz="2000" spc="5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d’adressage</a:t>
            </a:r>
            <a:r>
              <a:rPr sz="2000" spc="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direct</a:t>
            </a:r>
            <a:r>
              <a:rPr sz="2000" spc="6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à</a:t>
            </a:r>
            <a:r>
              <a:rPr sz="2000" spc="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tout</a:t>
            </a:r>
            <a:r>
              <a:rPr sz="2000" spc="5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l’espace mémoire.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</a:pP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Fournit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l’octet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poids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fort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l’adresse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</a:pP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→</a:t>
            </a:r>
            <a:r>
              <a:rPr sz="2000" spc="39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simplifie</a:t>
            </a:r>
            <a:r>
              <a:rPr sz="2000" spc="-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les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accès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rapides.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</a:pP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</a:pP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CCR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(Condition</a:t>
            </a:r>
            <a:r>
              <a:rPr sz="20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Code</a:t>
            </a:r>
            <a:r>
              <a:rPr sz="20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Register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8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bits):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Définit</a:t>
            </a:r>
            <a:r>
              <a:rPr sz="20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l’état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du</a:t>
            </a:r>
            <a:r>
              <a:rPr sz="20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processeur</a:t>
            </a:r>
            <a:r>
              <a:rPr sz="2000" spc="-3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après</a:t>
            </a:r>
            <a:r>
              <a:rPr sz="20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chaque</a:t>
            </a:r>
            <a:r>
              <a:rPr sz="2000" spc="-6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opération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D1D1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→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Carry</a:t>
            </a:r>
            <a:r>
              <a:rPr sz="20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(C),</a:t>
            </a:r>
            <a:r>
              <a:rPr sz="2000" spc="-3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Zero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(Z),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Negative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(N),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Overflow</a:t>
            </a:r>
            <a:r>
              <a:rPr sz="2000" spc="-4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(V),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Utilisé</a:t>
            </a:r>
            <a:r>
              <a:rPr sz="2000" spc="-1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pour</a:t>
            </a:r>
            <a:r>
              <a:rPr sz="2000" spc="-5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les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sauts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conditionnels</a:t>
            </a:r>
            <a:r>
              <a:rPr sz="20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et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la</a:t>
            </a:r>
            <a:r>
              <a:rPr sz="2000" spc="-25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prise</a:t>
            </a:r>
            <a:r>
              <a:rPr sz="2000" spc="-2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D1F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1D1D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D1F"/>
                </a:solidFill>
                <a:latin typeface="Calibri"/>
                <a:cs typeface="Calibri"/>
              </a:rPr>
              <a:t>décision.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120" y="3139058"/>
            <a:ext cx="5756656" cy="13211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9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1786" y="0"/>
            <a:ext cx="1450213" cy="13360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382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000000"/>
                </a:solidFill>
                <a:latin typeface="Georgia"/>
                <a:cs typeface="Georgia"/>
              </a:rPr>
              <a:t>3-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Organisation</a:t>
            </a:r>
            <a:r>
              <a:rPr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du</a:t>
            </a:r>
            <a:r>
              <a:rPr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projet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2933" y="2035289"/>
            <a:ext cx="878141" cy="7527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8770" y="2954934"/>
            <a:ext cx="899960" cy="6800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83027" y="3769131"/>
            <a:ext cx="800100" cy="6800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55976" y="5477002"/>
            <a:ext cx="826173" cy="7597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55976" y="4583188"/>
            <a:ext cx="826173" cy="7597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68678" y="893190"/>
            <a:ext cx="8578850" cy="505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marR="5080" indent="-22669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80" dirty="0">
                <a:latin typeface="Tahoma"/>
                <a:cs typeface="Tahoma"/>
              </a:rPr>
              <a:t>Le</a:t>
            </a:r>
            <a:r>
              <a:rPr sz="2000" spc="4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simulateur</a:t>
            </a:r>
            <a:r>
              <a:rPr sz="2000" spc="4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reproduit</a:t>
            </a:r>
            <a:r>
              <a:rPr sz="2000" spc="4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les</a:t>
            </a:r>
            <a:r>
              <a:rPr sz="2000" spc="4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parties</a:t>
            </a:r>
            <a:r>
              <a:rPr sz="2000" spc="43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principales</a:t>
            </a:r>
            <a:r>
              <a:rPr sz="2000" spc="4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du</a:t>
            </a:r>
            <a:r>
              <a:rPr sz="2000" spc="4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Motorola</a:t>
            </a:r>
            <a:r>
              <a:rPr sz="2000" spc="4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6809</a:t>
            </a:r>
            <a:r>
              <a:rPr sz="2000" spc="43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:</a:t>
            </a:r>
            <a:r>
              <a:rPr sz="2000" spc="43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les 	</a:t>
            </a:r>
            <a:r>
              <a:rPr sz="2000" dirty="0">
                <a:latin typeface="Tahoma"/>
                <a:cs typeface="Tahoma"/>
              </a:rPr>
              <a:t>registres,</a:t>
            </a:r>
            <a:r>
              <a:rPr sz="2000" spc="4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3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mémoire</a:t>
            </a:r>
            <a:r>
              <a:rPr sz="2000" spc="3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et</a:t>
            </a:r>
            <a:r>
              <a:rPr sz="2000" spc="4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</a:t>
            </a:r>
            <a:r>
              <a:rPr sz="2000" spc="4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déroulement</a:t>
            </a:r>
            <a:r>
              <a:rPr sz="2000" spc="415" dirty="0">
                <a:latin typeface="Tahoma"/>
                <a:cs typeface="Tahoma"/>
              </a:rPr>
              <a:t> </a:t>
            </a:r>
            <a:r>
              <a:rPr sz="2000" spc="55" dirty="0">
                <a:latin typeface="Tahoma"/>
                <a:cs typeface="Tahoma"/>
              </a:rPr>
              <a:t>des</a:t>
            </a:r>
            <a:r>
              <a:rPr sz="2000" spc="4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instructions.</a:t>
            </a:r>
            <a:r>
              <a:rPr sz="2000" spc="3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Cela</a:t>
            </a:r>
            <a:r>
              <a:rPr sz="2000" spc="4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permet 	</a:t>
            </a:r>
            <a:r>
              <a:rPr sz="2000" dirty="0">
                <a:latin typeface="Tahoma"/>
                <a:cs typeface="Tahoma"/>
              </a:rPr>
              <a:t>d’exécuter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des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programmes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et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les</a:t>
            </a:r>
            <a:r>
              <a:rPr sz="2000" spc="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suivre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étape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par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étape.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000">
              <a:latin typeface="Tahoma"/>
              <a:cs typeface="Tahoma"/>
            </a:endParaRPr>
          </a:p>
          <a:p>
            <a:pPr marL="224282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ahoma"/>
                <a:cs typeface="Tahoma"/>
              </a:rPr>
              <a:t>Cœur</a:t>
            </a:r>
            <a:r>
              <a:rPr sz="2800" spc="-13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Léger</a:t>
            </a:r>
            <a:endParaRPr sz="2800">
              <a:latin typeface="Tahoma"/>
              <a:cs typeface="Tahoma"/>
            </a:endParaRPr>
          </a:p>
          <a:p>
            <a:pPr marL="2242820" marR="2531110">
              <a:lnSpc>
                <a:spcPct val="188000"/>
              </a:lnSpc>
              <a:spcBef>
                <a:spcPts val="615"/>
              </a:spcBef>
            </a:pPr>
            <a:r>
              <a:rPr sz="2800" dirty="0">
                <a:latin typeface="Tahoma"/>
                <a:cs typeface="Tahoma"/>
              </a:rPr>
              <a:t>Instructions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Autonomes </a:t>
            </a:r>
            <a:r>
              <a:rPr sz="2800" dirty="0">
                <a:latin typeface="Tahoma"/>
                <a:cs typeface="Tahoma"/>
              </a:rPr>
              <a:t>Adressage</a:t>
            </a:r>
            <a:r>
              <a:rPr sz="2800" spc="30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Intelligent </a:t>
            </a:r>
            <a:r>
              <a:rPr sz="2800" dirty="0">
                <a:latin typeface="Tahoma"/>
                <a:cs typeface="Tahoma"/>
              </a:rPr>
              <a:t>Déboguer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intégré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800">
              <a:latin typeface="Tahoma"/>
              <a:cs typeface="Tahoma"/>
            </a:endParaRPr>
          </a:p>
          <a:p>
            <a:pPr marL="2341245">
              <a:lnSpc>
                <a:spcPct val="100000"/>
              </a:lnSpc>
            </a:pPr>
            <a:r>
              <a:rPr sz="2800" spc="-20" dirty="0">
                <a:latin typeface="Tahoma"/>
                <a:cs typeface="Tahoma"/>
              </a:rPr>
              <a:t>Interface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séparée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10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7325" y="538632"/>
            <a:ext cx="8580120" cy="52082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ahoma"/>
                <a:cs typeface="Tahoma"/>
              </a:rPr>
              <a:t>Cœur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léger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225" dirty="0">
                <a:latin typeface="Tahoma"/>
                <a:cs typeface="Tahoma"/>
              </a:rPr>
              <a:t>: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CPU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210" dirty="0">
                <a:latin typeface="Tahoma"/>
                <a:cs typeface="Tahoma"/>
              </a:rPr>
              <a:t>+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85" dirty="0">
                <a:latin typeface="Tahoma"/>
                <a:cs typeface="Tahoma"/>
              </a:rPr>
              <a:t>Mémoire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10" dirty="0">
                <a:latin typeface="Tahoma"/>
                <a:cs typeface="Tahoma"/>
              </a:rPr>
              <a:t>+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Registres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dirty="0">
                <a:latin typeface="Arial MT"/>
                <a:cs typeface="Arial MT"/>
              </a:rPr>
              <a:t>→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Tahoma"/>
                <a:cs typeface="Tahoma"/>
              </a:rPr>
              <a:t>le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moteur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du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6809</a:t>
            </a:r>
            <a:endParaRPr sz="2800">
              <a:latin typeface="Tahoma"/>
              <a:cs typeface="Tahoma"/>
            </a:endParaRPr>
          </a:p>
          <a:p>
            <a:pPr marL="240029" marR="5080" indent="-227329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1300" algn="l"/>
                <a:tab pos="2315210" algn="l"/>
                <a:tab pos="4309110" algn="l"/>
                <a:tab pos="4618355" algn="l"/>
                <a:tab pos="5979160" algn="l"/>
                <a:tab pos="7677150" algn="l"/>
              </a:tabLst>
            </a:pPr>
            <a:r>
              <a:rPr sz="2800" spc="-10" dirty="0">
                <a:latin typeface="Tahoma"/>
                <a:cs typeface="Tahoma"/>
              </a:rPr>
              <a:t>Instructions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autonomes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0" dirty="0">
                <a:latin typeface="Tahoma"/>
                <a:cs typeface="Tahoma"/>
              </a:rPr>
              <a:t>: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chaque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opération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(LDA, 	</a:t>
            </a:r>
            <a:r>
              <a:rPr sz="2800" spc="70" dirty="0">
                <a:latin typeface="Tahoma"/>
                <a:cs typeface="Tahoma"/>
              </a:rPr>
              <a:t>ADD,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210" dirty="0">
                <a:latin typeface="Tahoma"/>
                <a:cs typeface="Tahoma"/>
              </a:rPr>
              <a:t>JMP…)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est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une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classe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indépendante</a:t>
            </a:r>
            <a:endParaRPr sz="2800">
              <a:latin typeface="Tahoma"/>
              <a:cs typeface="Tahoma"/>
            </a:endParaRPr>
          </a:p>
          <a:p>
            <a:pPr marL="240029" marR="6985" indent="-227329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1300" algn="l"/>
                <a:tab pos="2150745" algn="l"/>
                <a:tab pos="3923665" algn="l"/>
                <a:tab pos="4248150" algn="l"/>
                <a:tab pos="5961380" algn="l"/>
                <a:tab pos="8168005" algn="l"/>
              </a:tabLst>
            </a:pPr>
            <a:r>
              <a:rPr sz="2800" spc="35" dirty="0">
                <a:latin typeface="Tahoma"/>
                <a:cs typeface="Tahoma"/>
              </a:rPr>
              <a:t>Adressage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intelligent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0" dirty="0">
                <a:latin typeface="Tahoma"/>
                <a:cs typeface="Tahoma"/>
              </a:rPr>
              <a:t>: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détection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automatique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25" dirty="0">
                <a:latin typeface="Tahoma"/>
                <a:cs typeface="Tahoma"/>
              </a:rPr>
              <a:t>du 	</a:t>
            </a:r>
            <a:r>
              <a:rPr sz="2800" spc="55" dirty="0">
                <a:latin typeface="Tahoma"/>
                <a:cs typeface="Tahoma"/>
              </a:rPr>
              <a:t>mode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(immédiat,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indexé,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direct…)</a:t>
            </a:r>
            <a:endParaRPr sz="2800">
              <a:latin typeface="Tahoma"/>
              <a:cs typeface="Tahoma"/>
            </a:endParaRPr>
          </a:p>
          <a:p>
            <a:pPr marL="240029" marR="8255" indent="-227329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41300" algn="l"/>
                <a:tab pos="2344420" algn="l"/>
                <a:tab pos="3792220" algn="l"/>
                <a:tab pos="4228465" algn="l"/>
                <a:tab pos="5118100" algn="l"/>
                <a:tab pos="5634990" algn="l"/>
                <a:tab pos="6624320" algn="l"/>
              </a:tabLst>
            </a:pPr>
            <a:r>
              <a:rPr sz="2800" spc="-10" dirty="0">
                <a:latin typeface="Tahoma"/>
                <a:cs typeface="Tahoma"/>
              </a:rPr>
              <a:t>Débogueur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intégré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0" dirty="0">
                <a:latin typeface="Tahoma"/>
                <a:cs typeface="Tahoma"/>
              </a:rPr>
              <a:t>: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25" dirty="0">
                <a:latin typeface="Tahoma"/>
                <a:cs typeface="Tahoma"/>
              </a:rPr>
              <a:t>pas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0" dirty="0">
                <a:latin typeface="Tahoma"/>
                <a:cs typeface="Tahoma"/>
              </a:rPr>
              <a:t>à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20" dirty="0">
                <a:latin typeface="Tahoma"/>
                <a:cs typeface="Tahoma"/>
              </a:rPr>
              <a:t>pas,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breakpoints, 	</a:t>
            </a:r>
            <a:r>
              <a:rPr sz="2800" dirty="0">
                <a:latin typeface="Tahoma"/>
                <a:cs typeface="Tahoma"/>
              </a:rPr>
              <a:t>inspection</a:t>
            </a:r>
            <a:r>
              <a:rPr sz="2800" spc="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mémoire</a:t>
            </a:r>
            <a:r>
              <a:rPr sz="2800" spc="60" dirty="0">
                <a:latin typeface="Tahoma"/>
                <a:cs typeface="Tahoma"/>
              </a:rPr>
              <a:t> </a:t>
            </a:r>
            <a:r>
              <a:rPr sz="2800" spc="225" dirty="0">
                <a:latin typeface="Tahoma"/>
                <a:cs typeface="Tahoma"/>
              </a:rPr>
              <a:t>—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sans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ralentir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l’exécution</a:t>
            </a:r>
            <a:endParaRPr sz="2800">
              <a:latin typeface="Tahoma"/>
              <a:cs typeface="Tahoma"/>
            </a:endParaRPr>
          </a:p>
          <a:p>
            <a:pPr marL="240029" marR="6350" indent="-227329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ahoma"/>
                <a:cs typeface="Tahoma"/>
              </a:rPr>
              <a:t>Interface</a:t>
            </a:r>
            <a:r>
              <a:rPr sz="2800" spc="2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séparée</a:t>
            </a:r>
            <a:r>
              <a:rPr sz="2800" spc="2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:</a:t>
            </a:r>
            <a:r>
              <a:rPr sz="2800" spc="2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la</a:t>
            </a:r>
            <a:r>
              <a:rPr sz="2800" spc="2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logique</a:t>
            </a:r>
            <a:r>
              <a:rPr sz="2800" spc="2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et</a:t>
            </a:r>
            <a:r>
              <a:rPr sz="2800" spc="2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l’affichage</a:t>
            </a:r>
            <a:r>
              <a:rPr sz="2800" spc="2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</a:t>
            </a:r>
            <a:r>
              <a:rPr sz="2800" spc="22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sont 	</a:t>
            </a:r>
            <a:r>
              <a:rPr sz="2800" dirty="0">
                <a:latin typeface="Tahoma"/>
                <a:cs typeface="Tahoma"/>
              </a:rPr>
              <a:t>pas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mélangés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Arial MT"/>
                <a:cs typeface="Arial MT"/>
              </a:rPr>
              <a:t>→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dirty="0">
                <a:latin typeface="Tahoma"/>
                <a:cs typeface="Tahoma"/>
              </a:rPr>
              <a:t>facile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à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améliorer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9170" y="6162430"/>
            <a:ext cx="236220" cy="2146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65" dirty="0">
                <a:latin typeface="Tahoma"/>
                <a:cs typeface="Tahoma"/>
              </a:rPr>
              <a:t>11 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6436" y="451865"/>
            <a:ext cx="49942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>
                <a:solidFill>
                  <a:srgbClr val="000000"/>
                </a:solidFill>
                <a:latin typeface="Georgia"/>
                <a:cs typeface="Georgia"/>
              </a:rPr>
              <a:t>4-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Techniques</a:t>
            </a:r>
            <a:r>
              <a:rPr spc="-1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de</a:t>
            </a:r>
            <a:r>
              <a:rPr spc="-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simulation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49396" y="1986089"/>
            <a:ext cx="5078730" cy="3864610"/>
            <a:chOff x="3549396" y="1986089"/>
            <a:chExt cx="5078730" cy="3864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4046" y="1986089"/>
              <a:ext cx="4385690" cy="386410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8006" y="3538626"/>
              <a:ext cx="77134" cy="4226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8813" y="3823309"/>
              <a:ext cx="1157020" cy="7848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9979" y="3974236"/>
              <a:ext cx="1123962" cy="3234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98815" y="3538626"/>
              <a:ext cx="88153" cy="4226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49396" y="4038917"/>
              <a:ext cx="1311275" cy="2501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92192" y="4159694"/>
              <a:ext cx="253441" cy="25012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4163" y="3616261"/>
              <a:ext cx="2126741" cy="3579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03114" y="3974185"/>
              <a:ext cx="440766" cy="18544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11136" y="5582818"/>
              <a:ext cx="694220" cy="1207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26196" y="3847858"/>
              <a:ext cx="201688" cy="28053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69630" y="4076407"/>
              <a:ext cx="573239" cy="42599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691385" y="2403728"/>
            <a:ext cx="2042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Outils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Débogage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9170" y="6162430"/>
            <a:ext cx="236220" cy="2146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65" dirty="0">
                <a:latin typeface="Tahoma"/>
                <a:cs typeface="Tahoma"/>
              </a:rPr>
              <a:t>12 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40782" y="1499996"/>
            <a:ext cx="1826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Cycle</a:t>
            </a:r>
            <a:r>
              <a:rPr sz="1800" spc="1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d’exécution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74709" y="2719832"/>
            <a:ext cx="20948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Décodeur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Centralisé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6240" y="5171947"/>
            <a:ext cx="8039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dirty="0">
                <a:solidFill>
                  <a:srgbClr val="2E2E2E"/>
                </a:solidFill>
                <a:latin typeface="Cambria"/>
                <a:cs typeface="Cambria"/>
              </a:rPr>
              <a:t>0</a:t>
            </a:r>
            <a:r>
              <a:rPr sz="2200" i="1" spc="40" dirty="0">
                <a:solidFill>
                  <a:srgbClr val="2E2E2E"/>
                </a:solidFill>
                <a:latin typeface="Cambria"/>
                <a:cs typeface="Cambria"/>
              </a:rPr>
              <a:t> </a:t>
            </a:r>
            <a:r>
              <a:rPr sz="2200" i="1" spc="70" dirty="0">
                <a:solidFill>
                  <a:srgbClr val="3C3C3C"/>
                </a:solidFill>
                <a:latin typeface="Cambria"/>
                <a:cs typeface="Cambria"/>
              </a:rPr>
              <a:t>OO</a:t>
            </a:r>
            <a:r>
              <a:rPr sz="2200" i="1" spc="-95" dirty="0">
                <a:solidFill>
                  <a:srgbClr val="3C3C3C"/>
                </a:solidFill>
                <a:latin typeface="Cambria"/>
                <a:cs typeface="Cambria"/>
              </a:rPr>
              <a:t> </a:t>
            </a:r>
            <a:r>
              <a:rPr sz="2200" i="1" spc="-50" dirty="0">
                <a:solidFill>
                  <a:srgbClr val="383838"/>
                </a:solidFill>
                <a:latin typeface="Cambria"/>
                <a:cs typeface="Cambria"/>
              </a:rPr>
              <a:t>0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09431" y="3942969"/>
            <a:ext cx="213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Logique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d’adressage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93811" y="5354218"/>
            <a:ext cx="2067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Tahoma"/>
                <a:cs typeface="Tahoma"/>
              </a:rPr>
              <a:t>Modèle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registres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6933" y="3999103"/>
            <a:ext cx="19424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Tahoma"/>
                <a:cs typeface="Tahoma"/>
              </a:rPr>
              <a:t>Mémoire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Protégée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22145" y="5431332"/>
            <a:ext cx="2631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Indicateurs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Automatiques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0728" y="172339"/>
            <a:ext cx="5488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5" dirty="0">
                <a:solidFill>
                  <a:srgbClr val="000000"/>
                </a:solidFill>
                <a:latin typeface="Georgia"/>
                <a:cs typeface="Georgia"/>
              </a:rPr>
              <a:t>Un</a:t>
            </a:r>
            <a:r>
              <a:rPr sz="3600" spc="-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000000"/>
                </a:solidFill>
                <a:latin typeface="Georgia"/>
                <a:cs typeface="Georgia"/>
              </a:rPr>
              <a:t>Cycle</a:t>
            </a:r>
            <a:r>
              <a:rPr sz="3600" spc="-8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000000"/>
                </a:solidFill>
                <a:latin typeface="Georgia"/>
                <a:cs typeface="Georgia"/>
              </a:rPr>
              <a:t>d’exécution</a:t>
            </a:r>
            <a:r>
              <a:rPr sz="3600" spc="-9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Georgia"/>
                <a:cs typeface="Georgia"/>
              </a:rPr>
              <a:t>fidèle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0475" y="811733"/>
            <a:ext cx="962977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La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simulation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0" dirty="0">
                <a:latin typeface="Cambria"/>
                <a:cs typeface="Cambria"/>
              </a:rPr>
              <a:t>reproduit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avec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précision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le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cycle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70" dirty="0">
                <a:latin typeface="Cambria"/>
                <a:cs typeface="Cambria"/>
              </a:rPr>
              <a:t>opérationnel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fondamental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dumicroprocesseur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70" dirty="0">
                <a:latin typeface="Cambria"/>
                <a:cs typeface="Cambria"/>
              </a:rPr>
              <a:t>physique.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70" dirty="0">
                <a:latin typeface="Cambria"/>
                <a:cs typeface="Cambria"/>
              </a:rPr>
              <a:t>C'est</a:t>
            </a:r>
            <a:r>
              <a:rPr sz="2000" spc="-1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le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-70" dirty="0">
                <a:latin typeface="Cambria"/>
                <a:cs typeface="Cambria"/>
              </a:rPr>
              <a:t>moteur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qui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rythme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chaque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action</a:t>
            </a:r>
            <a:r>
              <a:rPr sz="2000" spc="-21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de</a:t>
            </a:r>
            <a:r>
              <a:rPr sz="2000" spc="-1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la</a:t>
            </a:r>
            <a:r>
              <a:rPr sz="2000" spc="-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machine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virtuelle.</a:t>
            </a:r>
            <a:endParaRPr sz="2000" dirty="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08885" y="1791906"/>
            <a:ext cx="5375275" cy="4064000"/>
            <a:chOff x="2008885" y="1791906"/>
            <a:chExt cx="5375275" cy="4064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8885" y="1791906"/>
              <a:ext cx="5375147" cy="4063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21779" y="2719705"/>
              <a:ext cx="369570" cy="0"/>
            </a:xfrm>
            <a:custGeom>
              <a:avLst/>
              <a:gdLst/>
              <a:ahLst/>
              <a:cxnLst/>
              <a:rect l="l" t="t" r="r" b="b"/>
              <a:pathLst>
                <a:path w="369570">
                  <a:moveTo>
                    <a:pt x="0" y="0"/>
                  </a:moveTo>
                  <a:lnTo>
                    <a:pt x="369570" y="0"/>
                  </a:lnTo>
                </a:path>
              </a:pathLst>
            </a:custGeom>
            <a:ln w="2963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615178" y="2387345"/>
            <a:ext cx="836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fetch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9170" y="6162430"/>
            <a:ext cx="236220" cy="2146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65" dirty="0">
                <a:latin typeface="Tahoma"/>
                <a:cs typeface="Tahoma"/>
              </a:rPr>
              <a:t>13 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2551" y="5614517"/>
            <a:ext cx="1194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decode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1511" y="2387345"/>
            <a:ext cx="1293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execute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9802" y="2981705"/>
            <a:ext cx="4315460" cy="17081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62585" marR="5080" indent="-350520" algn="just">
              <a:lnSpc>
                <a:spcPts val="2050"/>
              </a:lnSpc>
              <a:spcBef>
                <a:spcPts val="260"/>
              </a:spcBef>
              <a:buChar char="•"/>
              <a:tabLst>
                <a:tab pos="372110" algn="l"/>
              </a:tabLst>
            </a:pPr>
            <a:r>
              <a:rPr sz="1800" dirty="0">
                <a:latin typeface="Cambria"/>
                <a:cs typeface="Cambria"/>
              </a:rPr>
              <a:t>Fetch</a:t>
            </a:r>
            <a:r>
              <a:rPr sz="1800" spc="44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(Lecture)</a:t>
            </a:r>
            <a:r>
              <a:rPr sz="1800" spc="44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4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Récupération</a:t>
            </a:r>
            <a:r>
              <a:rPr sz="1800" spc="440" dirty="0">
                <a:latin typeface="Cambria"/>
                <a:cs typeface="Cambria"/>
              </a:rPr>
              <a:t>  </a:t>
            </a:r>
            <a:r>
              <a:rPr sz="1800" spc="-25" dirty="0">
                <a:latin typeface="Cambria"/>
                <a:cs typeface="Cambria"/>
              </a:rPr>
              <a:t>de 	</a:t>
            </a:r>
            <a:r>
              <a:rPr sz="1800" dirty="0">
                <a:latin typeface="Cambria"/>
                <a:cs typeface="Cambria"/>
              </a:rPr>
              <a:t>l'opcode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l'instruction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suivante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depuis 	la</a:t>
            </a:r>
            <a:r>
              <a:rPr lang="en-US" sz="1800" spc="-10" dirty="0">
                <a:latin typeface="Cambria"/>
                <a:cs typeface="Cambria"/>
              </a:rPr>
              <a:t> </a:t>
            </a:r>
            <a:r>
              <a:rPr sz="1800" spc="-10" dirty="0" err="1">
                <a:latin typeface="Cambria"/>
                <a:cs typeface="Cambria"/>
              </a:rPr>
              <a:t>mémoire</a:t>
            </a:r>
            <a:r>
              <a:rPr sz="1800" spc="-10" dirty="0">
                <a:latin typeface="Cambria"/>
                <a:cs typeface="Cambria"/>
              </a:rPr>
              <a:t>.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Cambria"/>
              <a:buChar char="•"/>
            </a:pPr>
            <a:endParaRPr sz="1800" dirty="0">
              <a:latin typeface="Cambria"/>
              <a:cs typeface="Cambria"/>
            </a:endParaRPr>
          </a:p>
          <a:p>
            <a:pPr marL="361315" indent="-348615">
              <a:lnSpc>
                <a:spcPts val="2105"/>
              </a:lnSpc>
              <a:spcBef>
                <a:spcPts val="5"/>
              </a:spcBef>
              <a:buChar char="•"/>
              <a:tabLst>
                <a:tab pos="361315" algn="l"/>
              </a:tabLst>
            </a:pPr>
            <a:r>
              <a:rPr sz="1800" dirty="0">
                <a:latin typeface="Cambria"/>
                <a:cs typeface="Cambria"/>
              </a:rPr>
              <a:t>Decode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(Décodage)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:Analyse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l’opcode</a:t>
            </a:r>
            <a:endParaRPr sz="1800" dirty="0">
              <a:latin typeface="Cambria"/>
              <a:cs typeface="Cambria"/>
            </a:endParaRPr>
          </a:p>
          <a:p>
            <a:pPr marL="361315">
              <a:lnSpc>
                <a:spcPts val="2105"/>
              </a:lnSpc>
            </a:pPr>
            <a:r>
              <a:rPr sz="1800" dirty="0">
                <a:latin typeface="Cambria"/>
                <a:cs typeface="Cambria"/>
              </a:rPr>
              <a:t>pour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déterminer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l’opération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à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effectuer.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9802" y="5045455"/>
            <a:ext cx="3674745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indent="-348615">
              <a:lnSpc>
                <a:spcPct val="100000"/>
              </a:lnSpc>
              <a:spcBef>
                <a:spcPts val="100"/>
              </a:spcBef>
              <a:buChar char="•"/>
              <a:tabLst>
                <a:tab pos="361315" algn="l"/>
              </a:tabLst>
            </a:pPr>
            <a:r>
              <a:rPr sz="1800" spc="-35" dirty="0">
                <a:latin typeface="Cambria"/>
                <a:cs typeface="Cambria"/>
              </a:rPr>
              <a:t>Execute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(Exécution)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 </a:t>
            </a:r>
            <a:r>
              <a:rPr sz="1800" spc="-65" dirty="0">
                <a:latin typeface="Cambria"/>
                <a:cs typeface="Cambria"/>
              </a:rPr>
              <a:t>Réalisation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de</a:t>
            </a:r>
            <a:endParaRPr sz="1800" dirty="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  <a:spcBef>
                <a:spcPts val="1330"/>
              </a:spcBef>
            </a:pPr>
            <a:r>
              <a:rPr sz="1800" spc="-80" dirty="0">
                <a:latin typeface="Cambria"/>
                <a:cs typeface="Cambria"/>
              </a:rPr>
              <a:t>l'opération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demandée.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" dirty="0">
                <a:solidFill>
                  <a:srgbClr val="000000"/>
                </a:solidFill>
                <a:latin typeface="Georgia"/>
                <a:cs typeface="Georgia"/>
              </a:rPr>
              <a:t>Le</a:t>
            </a:r>
            <a:r>
              <a:rPr sz="3600" spc="-1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000000"/>
                </a:solidFill>
                <a:latin typeface="Georgia"/>
                <a:cs typeface="Georgia"/>
              </a:rPr>
              <a:t>Décodage</a:t>
            </a:r>
            <a:r>
              <a:rPr sz="3600" spc="-1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Georgia"/>
                <a:cs typeface="Georgia"/>
              </a:rPr>
              <a:t>dynamique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9170" y="616071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latin typeface="Tahoma"/>
                <a:cs typeface="Tahoma"/>
              </a:rPr>
              <a:t>14 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1950" y="2395092"/>
            <a:ext cx="5457571" cy="22381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3490" y="3198317"/>
            <a:ext cx="31724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57910" algn="l"/>
                <a:tab pos="1903730" algn="l"/>
              </a:tabLst>
            </a:pPr>
            <a:r>
              <a:rPr sz="2600" dirty="0">
                <a:latin typeface="Calibri"/>
                <a:cs typeface="Calibri"/>
              </a:rPr>
              <a:t>.</a:t>
            </a:r>
            <a:r>
              <a:rPr sz="2600" spc="325" dirty="0">
                <a:latin typeface="Calibri"/>
                <a:cs typeface="Calibri"/>
              </a:rPr>
              <a:t> </a:t>
            </a:r>
            <a:r>
              <a:rPr sz="2600" spc="120" dirty="0">
                <a:latin typeface="Calibri"/>
                <a:cs typeface="Calibri"/>
              </a:rPr>
              <a:t>0x8E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110" dirty="0">
                <a:solidFill>
                  <a:srgbClr val="BE901A"/>
                </a:solidFill>
                <a:latin typeface="Calibri"/>
                <a:cs typeface="Calibri"/>
              </a:rPr>
              <a:t>0x86</a:t>
            </a:r>
            <a:r>
              <a:rPr sz="2600" dirty="0">
                <a:solidFill>
                  <a:srgbClr val="BE901A"/>
                </a:solidFill>
                <a:latin typeface="Calibri"/>
                <a:cs typeface="Calibri"/>
              </a:rPr>
              <a:t>	</a:t>
            </a:r>
            <a:r>
              <a:rPr sz="2600" spc="90" dirty="0">
                <a:latin typeface="Calibri"/>
                <a:cs typeface="Calibri"/>
              </a:rPr>
              <a:t>ôx8ô</a:t>
            </a:r>
            <a:r>
              <a:rPr sz="2600" spc="340" dirty="0">
                <a:latin typeface="Calibri"/>
                <a:cs typeface="Calibri"/>
              </a:rPr>
              <a:t> </a:t>
            </a:r>
            <a:r>
              <a:rPr sz="2600" spc="275" dirty="0">
                <a:latin typeface="Calibri"/>
                <a:cs typeface="Calibri"/>
              </a:rPr>
              <a:t>... 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4673" y="2199513"/>
            <a:ext cx="773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BE9028"/>
                </a:solidFill>
                <a:latin typeface="Consolas"/>
                <a:cs typeface="Consolas"/>
              </a:rPr>
              <a:t>LDA</a:t>
            </a:r>
            <a:endParaRPr sz="3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1295" y="3062427"/>
            <a:ext cx="13608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1A1A1A"/>
                </a:solidFill>
                <a:latin typeface="Consolas"/>
                <a:cs typeface="Consolas"/>
              </a:rPr>
              <a:t>’ADDA’</a:t>
            </a:r>
            <a:endParaRPr sz="3200">
              <a:latin typeface="Consolas"/>
              <a:cs typeface="Consola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5196" y="4267403"/>
            <a:ext cx="893102" cy="28745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950" y="942543"/>
            <a:ext cx="9921875" cy="1339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Chaque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représentée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opcode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unique,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identifiée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traitée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temps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Times New Roman"/>
                <a:cs typeface="Times New Roman"/>
              </a:rPr>
              <a:t>réel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composant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centralisé.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368617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onsolas"/>
                <a:cs typeface="Consolas"/>
              </a:rPr>
              <a:t>’InstructionDecoder’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0138" y="4767452"/>
            <a:ext cx="1007935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marR="324485" indent="-353695">
              <a:lnSpc>
                <a:spcPct val="152800"/>
              </a:lnSpc>
              <a:spcBef>
                <a:spcPts val="100"/>
              </a:spcBef>
              <a:buChar char="•"/>
              <a:tabLst>
                <a:tab pos="367665" algn="l"/>
                <a:tab pos="5033010" algn="l"/>
              </a:tabLst>
            </a:pPr>
            <a:r>
              <a:rPr sz="1800" dirty="0">
                <a:latin typeface="Cambria"/>
                <a:cs typeface="Cambria"/>
              </a:rPr>
              <a:t>Un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décodeur</a:t>
            </a:r>
            <a:r>
              <a:rPr sz="1800" spc="4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unique</a:t>
            </a:r>
            <a:r>
              <a:rPr sz="1800" spc="434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(Instructiondecoder)</a:t>
            </a:r>
            <a:r>
              <a:rPr sz="1800" dirty="0">
                <a:latin typeface="Cambria"/>
                <a:cs typeface="Cambria"/>
              </a:rPr>
              <a:t>	est</a:t>
            </a:r>
            <a:r>
              <a:rPr sz="1800" spc="35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responsable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3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l'identification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i="1" spc="-45" dirty="0">
                <a:latin typeface="Cambria"/>
                <a:cs typeface="Cambria"/>
              </a:rPr>
              <a:t>toutes</a:t>
            </a:r>
            <a:r>
              <a:rPr sz="1800" i="1" spc="2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les 	</a:t>
            </a:r>
            <a:r>
              <a:rPr sz="1800" spc="-10" dirty="0">
                <a:latin typeface="Cambria"/>
                <a:cs typeface="Cambria"/>
              </a:rPr>
              <a:t>instructions.</a:t>
            </a:r>
            <a:endParaRPr sz="1800">
              <a:latin typeface="Cambria"/>
              <a:cs typeface="Cambria"/>
            </a:endParaRPr>
          </a:p>
          <a:p>
            <a:pPr marL="361315" indent="-348615">
              <a:lnSpc>
                <a:spcPct val="100000"/>
              </a:lnSpc>
              <a:spcBef>
                <a:spcPts val="1140"/>
              </a:spcBef>
              <a:buChar char="•"/>
              <a:tabLst>
                <a:tab pos="361315" algn="l"/>
                <a:tab pos="748665" algn="l"/>
              </a:tabLst>
            </a:pPr>
            <a:r>
              <a:rPr sz="1800" spc="-25" dirty="0">
                <a:latin typeface="Cambria"/>
                <a:cs typeface="Cambria"/>
              </a:rPr>
              <a:t>Ce</a:t>
            </a:r>
            <a:r>
              <a:rPr sz="1800" dirty="0">
                <a:latin typeface="Cambria"/>
                <a:cs typeface="Cambria"/>
              </a:rPr>
              <a:t>	mécanisme</a:t>
            </a:r>
            <a:r>
              <a:rPr sz="1800" spc="4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centralisé</a:t>
            </a:r>
            <a:r>
              <a:rPr sz="1800" spc="4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garantit</a:t>
            </a:r>
            <a:r>
              <a:rPr sz="1800" spc="4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une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gestion</a:t>
            </a:r>
            <a:r>
              <a:rPr sz="1800" spc="4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cohérente</a:t>
            </a:r>
            <a:r>
              <a:rPr sz="1800" spc="4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maintenable</a:t>
            </a:r>
            <a:r>
              <a:rPr sz="1800" spc="4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du</a:t>
            </a:r>
            <a:r>
              <a:rPr sz="1800" spc="45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jeu</a:t>
            </a:r>
            <a:r>
              <a:rPr sz="1800" spc="48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d'instructions</a:t>
            </a:r>
            <a:endParaRPr sz="1800">
              <a:latin typeface="Cambria"/>
              <a:cs typeface="Cambria"/>
            </a:endParaRPr>
          </a:p>
          <a:p>
            <a:pPr marL="362585">
              <a:lnSpc>
                <a:spcPct val="100000"/>
              </a:lnSpc>
              <a:spcBef>
                <a:spcPts val="1140"/>
              </a:spcBef>
            </a:pPr>
            <a:r>
              <a:rPr sz="1800" spc="-10" dirty="0">
                <a:latin typeface="Cambria"/>
                <a:cs typeface="Cambria"/>
              </a:rPr>
              <a:t>complexe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du</a:t>
            </a:r>
            <a:r>
              <a:rPr sz="1800" spc="-1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6809.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382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000000"/>
                </a:solidFill>
                <a:latin typeface="Georgia"/>
                <a:cs typeface="Georgia"/>
              </a:rPr>
              <a:t>La</a:t>
            </a:r>
            <a:r>
              <a:rPr spc="-1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Logique</a:t>
            </a:r>
            <a:r>
              <a:rPr spc="-1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d’adressage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721" y="998346"/>
            <a:ext cx="990536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Le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spc="-95" dirty="0">
                <a:latin typeface="Cambria"/>
                <a:cs typeface="Cambria"/>
              </a:rPr>
              <a:t>simulateur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35" dirty="0">
                <a:latin typeface="Cambria"/>
                <a:cs typeface="Cambria"/>
              </a:rPr>
              <a:t>calcule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20" dirty="0">
                <a:latin typeface="Cambria"/>
                <a:cs typeface="Cambria"/>
              </a:rPr>
              <a:t>l'adresse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85" dirty="0">
                <a:latin typeface="Cambria"/>
                <a:cs typeface="Cambria"/>
              </a:rPr>
              <a:t>effective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la </a:t>
            </a:r>
            <a:r>
              <a:rPr sz="2000" spc="-75" dirty="0">
                <a:latin typeface="Cambria"/>
                <a:cs typeface="Cambria"/>
              </a:rPr>
              <a:t>donnée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spc="-65" dirty="0">
                <a:latin typeface="Cambria"/>
                <a:cs typeface="Cambria"/>
              </a:rPr>
              <a:t>fonction </a:t>
            </a:r>
            <a:r>
              <a:rPr sz="2000" dirty="0">
                <a:latin typeface="Cambria"/>
                <a:cs typeface="Cambria"/>
              </a:rPr>
              <a:t>du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100" dirty="0">
                <a:latin typeface="Cambria"/>
                <a:cs typeface="Cambria"/>
              </a:rPr>
              <a:t>mode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spc="-85" dirty="0">
                <a:latin typeface="Cambria"/>
                <a:cs typeface="Cambria"/>
              </a:rPr>
              <a:t>d'adressage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spécifié </a:t>
            </a:r>
            <a:r>
              <a:rPr sz="2000" spc="-25" dirty="0">
                <a:latin typeface="Cambria"/>
                <a:cs typeface="Cambria"/>
              </a:rPr>
              <a:t>par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spc="-75" dirty="0">
                <a:latin typeface="Cambria"/>
                <a:cs typeface="Cambria"/>
              </a:rPr>
              <a:t>l'instruction,</a:t>
            </a:r>
            <a:r>
              <a:rPr sz="2000" spc="-200" dirty="0">
                <a:latin typeface="Cambria"/>
                <a:cs typeface="Cambria"/>
              </a:rPr>
              <a:t> </a:t>
            </a:r>
            <a:r>
              <a:rPr sz="2000" spc="-35" dirty="0">
                <a:latin typeface="Cambria"/>
                <a:cs typeface="Cambria"/>
              </a:rPr>
              <a:t>une</a:t>
            </a:r>
            <a:r>
              <a:rPr sz="2000" spc="-165" dirty="0">
                <a:latin typeface="Cambria"/>
                <a:cs typeface="Cambria"/>
              </a:rPr>
              <a:t> </a:t>
            </a:r>
            <a:r>
              <a:rPr sz="2000" spc="-95" dirty="0">
                <a:latin typeface="Cambria"/>
                <a:cs typeface="Cambria"/>
              </a:rPr>
              <a:t>étape</a:t>
            </a:r>
            <a:r>
              <a:rPr sz="2000" spc="-185" dirty="0">
                <a:latin typeface="Cambria"/>
                <a:cs typeface="Cambria"/>
              </a:rPr>
              <a:t> </a:t>
            </a:r>
            <a:r>
              <a:rPr sz="2000" spc="-65" dirty="0">
                <a:latin typeface="Cambria"/>
                <a:cs typeface="Cambria"/>
              </a:rPr>
              <a:t>cruciale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spc="-90" dirty="0">
                <a:latin typeface="Cambria"/>
                <a:cs typeface="Cambria"/>
              </a:rPr>
              <a:t>pour</a:t>
            </a:r>
            <a:r>
              <a:rPr sz="2000" spc="-180" dirty="0">
                <a:latin typeface="Cambria"/>
                <a:cs typeface="Cambria"/>
              </a:rPr>
              <a:t> </a:t>
            </a:r>
            <a:r>
              <a:rPr sz="2000" spc="-100" dirty="0">
                <a:latin typeface="Cambria"/>
                <a:cs typeface="Cambria"/>
              </a:rPr>
              <a:t>l'exécution</a:t>
            </a:r>
            <a:r>
              <a:rPr sz="2000" spc="-95" dirty="0">
                <a:latin typeface="Cambria"/>
                <a:cs typeface="Cambria"/>
              </a:rPr>
              <a:t> correcte</a:t>
            </a:r>
            <a:r>
              <a:rPr sz="2000" spc="-13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du</a:t>
            </a:r>
            <a:r>
              <a:rPr sz="2000" spc="-1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code.</a:t>
            </a:r>
            <a:endParaRPr sz="2000">
              <a:latin typeface="Cambria"/>
              <a:cs typeface="Cambria"/>
            </a:endParaRPr>
          </a:p>
          <a:p>
            <a:pPr marL="1289050">
              <a:lnSpc>
                <a:spcPct val="100000"/>
              </a:lnSpc>
              <a:spcBef>
                <a:spcPts val="1930"/>
              </a:spcBef>
            </a:pPr>
            <a:r>
              <a:rPr sz="2800" dirty="0">
                <a:latin typeface="Arial MT"/>
                <a:cs typeface="Arial MT"/>
              </a:rPr>
              <a:t>Modes</a:t>
            </a:r>
            <a:r>
              <a:rPr sz="2800" spc="2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d'Adressage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Gérés: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8161" y="5288381"/>
            <a:ext cx="102844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latin typeface="Arial MT"/>
                <a:cs typeface="Arial MT"/>
              </a:rPr>
              <a:t>La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résolution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opérandes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gérée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manière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centralisée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robuste,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qui </a:t>
            </a:r>
            <a:r>
              <a:rPr sz="2400" spc="-105" dirty="0">
                <a:latin typeface="Arial MT"/>
                <a:cs typeface="Arial MT"/>
              </a:rPr>
              <a:t>simplifie</a:t>
            </a:r>
            <a:r>
              <a:rPr sz="2400" spc="-18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la</a:t>
            </a:r>
            <a:r>
              <a:rPr sz="2400" spc="-20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logique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de</a:t>
            </a:r>
            <a:r>
              <a:rPr sz="2400" spc="-20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chaque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instruction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individuelle.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483" y="2339467"/>
            <a:ext cx="7420991" cy="28197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9170" y="6162430"/>
            <a:ext cx="236220" cy="2146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65" dirty="0">
                <a:latin typeface="Tahoma"/>
                <a:cs typeface="Tahoma"/>
              </a:rPr>
              <a:t>15 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000000"/>
                </a:solidFill>
                <a:latin typeface="Georgia"/>
                <a:cs typeface="Georgia"/>
              </a:rPr>
              <a:t>La</a:t>
            </a:r>
            <a:r>
              <a:rPr spc="-10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Modélisation</a:t>
            </a:r>
            <a:r>
              <a:rPr spc="-9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des</a:t>
            </a:r>
            <a:r>
              <a:rPr spc="-10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Registres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950" y="942543"/>
            <a:ext cx="101155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0" dirty="0">
                <a:latin typeface="Georgia" panose="02040502050405020303" pitchFamily="18" charset="0"/>
                <a:cs typeface="Arial MT"/>
              </a:rPr>
              <a:t>Tous</a:t>
            </a:r>
            <a:r>
              <a:rPr sz="2000" spc="-18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dirty="0">
                <a:latin typeface="Georgia" panose="02040502050405020303" pitchFamily="18" charset="0"/>
                <a:cs typeface="Arial MT"/>
              </a:rPr>
              <a:t>les</a:t>
            </a:r>
            <a:r>
              <a:rPr sz="20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14" dirty="0">
                <a:latin typeface="Georgia" panose="02040502050405020303" pitchFamily="18" charset="0"/>
                <a:cs typeface="Arial MT"/>
              </a:rPr>
              <a:t>registres</a:t>
            </a:r>
            <a:r>
              <a:rPr sz="2000" spc="-120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00" dirty="0">
                <a:latin typeface="Georgia" panose="02040502050405020303" pitchFamily="18" charset="0"/>
                <a:cs typeface="Arial MT"/>
              </a:rPr>
              <a:t>internes </a:t>
            </a:r>
            <a:r>
              <a:rPr sz="2000" spc="-70" dirty="0">
                <a:latin typeface="Georgia" panose="02040502050405020303" pitchFamily="18" charset="0"/>
                <a:cs typeface="Arial MT"/>
              </a:rPr>
              <a:t>du</a:t>
            </a:r>
            <a:r>
              <a:rPr sz="2000" spc="-12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95" dirty="0">
                <a:latin typeface="Georgia" panose="02040502050405020303" pitchFamily="18" charset="0"/>
                <a:cs typeface="Arial MT"/>
              </a:rPr>
              <a:t>6809,</a:t>
            </a:r>
            <a:r>
              <a:rPr sz="2000" spc="-120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85" dirty="0">
                <a:latin typeface="Georgia" panose="02040502050405020303" pitchFamily="18" charset="0"/>
                <a:cs typeface="Arial MT"/>
              </a:rPr>
              <a:t>qui</a:t>
            </a:r>
            <a:r>
              <a:rPr sz="2000" spc="-12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00" dirty="0">
                <a:latin typeface="Georgia" panose="02040502050405020303" pitchFamily="18" charset="0"/>
                <a:cs typeface="Arial MT"/>
              </a:rPr>
              <a:t>constituent</a:t>
            </a:r>
            <a:r>
              <a:rPr sz="2000" spc="2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80" dirty="0">
                <a:latin typeface="Georgia" panose="02040502050405020303" pitchFamily="18" charset="0"/>
                <a:cs typeface="Arial MT"/>
              </a:rPr>
              <a:t>son</a:t>
            </a:r>
            <a:r>
              <a:rPr sz="2000" spc="-12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90" dirty="0">
                <a:latin typeface="Georgia" panose="02040502050405020303" pitchFamily="18" charset="0"/>
                <a:cs typeface="Arial MT"/>
              </a:rPr>
              <a:t>état</a:t>
            </a:r>
            <a:r>
              <a:rPr sz="2000" spc="-120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dirty="0">
                <a:latin typeface="Georgia" panose="02040502050405020303" pitchFamily="18" charset="0"/>
                <a:cs typeface="Arial MT"/>
              </a:rPr>
              <a:t>à </a:t>
            </a:r>
            <a:r>
              <a:rPr sz="2000" spc="-55" dirty="0">
                <a:latin typeface="Georgia" panose="02040502050405020303" pitchFamily="18" charset="0"/>
                <a:cs typeface="Arial MT"/>
              </a:rPr>
              <a:t>un</a:t>
            </a:r>
            <a:r>
              <a:rPr sz="2000" spc="-90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95" dirty="0">
                <a:latin typeface="Georgia" panose="02040502050405020303" pitchFamily="18" charset="0"/>
                <a:cs typeface="Arial MT"/>
              </a:rPr>
              <a:t>instant</a:t>
            </a:r>
            <a:r>
              <a:rPr sz="2000" spc="-7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95" dirty="0">
                <a:latin typeface="Georgia" panose="02040502050405020303" pitchFamily="18" charset="0"/>
                <a:cs typeface="Arial MT"/>
              </a:rPr>
              <a:t>T,</a:t>
            </a:r>
            <a:r>
              <a:rPr sz="2000" spc="-180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95" dirty="0">
                <a:latin typeface="Georgia" panose="02040502050405020303" pitchFamily="18" charset="0"/>
                <a:cs typeface="Arial MT"/>
              </a:rPr>
              <a:t>sont</a:t>
            </a:r>
            <a:r>
              <a:rPr sz="2000" spc="-130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05" dirty="0">
                <a:latin typeface="Georgia" panose="02040502050405020303" pitchFamily="18" charset="0"/>
                <a:cs typeface="Arial MT"/>
              </a:rPr>
              <a:t>directement</a:t>
            </a:r>
            <a:r>
              <a:rPr sz="2000" spc="-12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0" dirty="0">
                <a:latin typeface="Georgia" panose="02040502050405020303" pitchFamily="18" charset="0"/>
                <a:cs typeface="Arial MT"/>
              </a:rPr>
              <a:t>mappés</a:t>
            </a:r>
            <a:endParaRPr sz="2000" dirty="0">
              <a:latin typeface="Georgia" panose="02040502050405020303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Georgia" panose="02040502050405020303" pitchFamily="18" charset="0"/>
                <a:cs typeface="Arial MT"/>
              </a:rPr>
              <a:t>à</a:t>
            </a:r>
            <a:r>
              <a:rPr sz="2000" spc="-15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70" dirty="0">
                <a:latin typeface="Georgia" panose="02040502050405020303" pitchFamily="18" charset="0"/>
                <a:cs typeface="Arial MT"/>
              </a:rPr>
              <a:t>des</a:t>
            </a:r>
            <a:r>
              <a:rPr sz="2000" spc="-180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05" dirty="0">
                <a:latin typeface="Georgia" panose="02040502050405020303" pitchFamily="18" charset="0"/>
                <a:cs typeface="Arial MT"/>
              </a:rPr>
              <a:t>variables</a:t>
            </a:r>
            <a:r>
              <a:rPr sz="2000" spc="-13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65" dirty="0">
                <a:latin typeface="Georgia" panose="02040502050405020303" pitchFamily="18" charset="0"/>
                <a:cs typeface="Arial MT"/>
              </a:rPr>
              <a:t>dans</a:t>
            </a:r>
            <a:r>
              <a:rPr sz="2000" spc="-120" dirty="0">
                <a:latin typeface="Georgia" panose="02040502050405020303" pitchFamily="18" charset="0"/>
                <a:cs typeface="Arial MT"/>
              </a:rPr>
              <a:t> l'environnement</a:t>
            </a:r>
            <a:r>
              <a:rPr sz="2000" spc="-175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55" dirty="0">
                <a:latin typeface="Georgia" panose="02040502050405020303" pitchFamily="18" charset="0"/>
                <a:cs typeface="Arial MT"/>
              </a:rPr>
              <a:t>de</a:t>
            </a:r>
            <a:r>
              <a:rPr sz="2000" spc="-204" dirty="0">
                <a:latin typeface="Georgia" panose="02040502050405020303" pitchFamily="18" charset="0"/>
                <a:cs typeface="Arial MT"/>
              </a:rPr>
              <a:t> </a:t>
            </a:r>
            <a:r>
              <a:rPr sz="2000" spc="-10" dirty="0">
                <a:latin typeface="Georgia" panose="02040502050405020303" pitchFamily="18" charset="0"/>
                <a:cs typeface="Arial MT"/>
              </a:rPr>
              <a:t>simulation.</a:t>
            </a:r>
            <a:endParaRPr sz="2000" dirty="0">
              <a:latin typeface="Georgia" panose="02040502050405020303" pitchFamily="18" charset="0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4638" y="1872716"/>
            <a:ext cx="4436237" cy="40679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71600" y="1898842"/>
            <a:ext cx="4116070" cy="3145092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800" spc="-30" dirty="0">
                <a:latin typeface="Georgia" panose="02040502050405020303" pitchFamily="18" charset="0"/>
                <a:cs typeface="Calibri"/>
              </a:rPr>
              <a:t>Liste</a:t>
            </a:r>
            <a:r>
              <a:rPr sz="2800" spc="-60" dirty="0">
                <a:latin typeface="Georgia" panose="02040502050405020303" pitchFamily="18" charset="0"/>
                <a:cs typeface="Calibri"/>
              </a:rPr>
              <a:t> </a:t>
            </a:r>
            <a:r>
              <a:rPr sz="2800" spc="-75" dirty="0">
                <a:latin typeface="Georgia" panose="02040502050405020303" pitchFamily="18" charset="0"/>
                <a:cs typeface="Calibri"/>
              </a:rPr>
              <a:t>des</a:t>
            </a:r>
            <a:r>
              <a:rPr sz="2800" spc="-150" dirty="0">
                <a:latin typeface="Georgia" panose="02040502050405020303" pitchFamily="18" charset="0"/>
                <a:cs typeface="Calibri"/>
              </a:rPr>
              <a:t> </a:t>
            </a:r>
            <a:r>
              <a:rPr sz="2800" spc="-95" dirty="0">
                <a:latin typeface="Georgia" panose="02040502050405020303" pitchFamily="18" charset="0"/>
                <a:cs typeface="Calibri"/>
              </a:rPr>
              <a:t>Registres</a:t>
            </a:r>
            <a:r>
              <a:rPr sz="2800" spc="-160" dirty="0">
                <a:latin typeface="Georgia" panose="02040502050405020303" pitchFamily="18" charset="0"/>
                <a:cs typeface="Calibri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Calibri"/>
              </a:rPr>
              <a:t>Modélisés:</a:t>
            </a:r>
            <a:endParaRPr sz="2800" dirty="0">
              <a:latin typeface="Georgia" panose="02040502050405020303" pitchFamily="18" charset="0"/>
              <a:cs typeface="Calibri"/>
            </a:endParaRPr>
          </a:p>
          <a:p>
            <a:pPr marL="472440" indent="-307340">
              <a:lnSpc>
                <a:spcPct val="100000"/>
              </a:lnSpc>
              <a:spcBef>
                <a:spcPts val="365"/>
              </a:spcBef>
              <a:buChar char="•"/>
              <a:tabLst>
                <a:tab pos="472440" algn="l"/>
              </a:tabLst>
            </a:pPr>
            <a:r>
              <a:rPr sz="2000" dirty="0">
                <a:latin typeface="Georgia" panose="02040502050405020303" pitchFamily="18" charset="0"/>
                <a:cs typeface="Calibri"/>
              </a:rPr>
              <a:t>Accumulateurs:</a:t>
            </a:r>
            <a:r>
              <a:rPr sz="2000" spc="-3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A,</a:t>
            </a:r>
            <a:r>
              <a:rPr sz="2000" spc="8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B</a:t>
            </a:r>
            <a:r>
              <a:rPr sz="2000" spc="23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55" dirty="0">
                <a:latin typeface="Georgia" panose="02040502050405020303" pitchFamily="18" charset="0"/>
                <a:cs typeface="Calibri"/>
              </a:rPr>
              <a:t>et</a:t>
            </a:r>
            <a:r>
              <a:rPr sz="2000" spc="1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50" dirty="0">
                <a:latin typeface="Georgia" panose="02040502050405020303" pitchFamily="18" charset="0"/>
                <a:cs typeface="Calibri"/>
              </a:rPr>
              <a:t>D</a:t>
            </a:r>
            <a:endParaRPr sz="2000" dirty="0">
              <a:latin typeface="Georgia" panose="02040502050405020303" pitchFamily="18" charset="0"/>
              <a:cs typeface="Calibri"/>
            </a:endParaRPr>
          </a:p>
          <a:p>
            <a:pPr marL="469265" indent="-307340">
              <a:lnSpc>
                <a:spcPct val="100000"/>
              </a:lnSpc>
              <a:spcBef>
                <a:spcPts val="830"/>
              </a:spcBef>
              <a:buChar char="•"/>
              <a:tabLst>
                <a:tab pos="469265" algn="l"/>
              </a:tabLst>
            </a:pPr>
            <a:r>
              <a:rPr sz="2000" spc="-25" dirty="0">
                <a:latin typeface="Georgia" panose="02040502050405020303" pitchFamily="18" charset="0"/>
                <a:cs typeface="Calibri"/>
              </a:rPr>
              <a:t>Registres</a:t>
            </a:r>
            <a:r>
              <a:rPr sz="2000" spc="-9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d'index:</a:t>
            </a:r>
            <a:r>
              <a:rPr sz="2000" spc="-4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35" dirty="0">
                <a:latin typeface="Georgia" panose="02040502050405020303" pitchFamily="18" charset="0"/>
                <a:cs typeface="Calibri"/>
              </a:rPr>
              <a:t>X,</a:t>
            </a:r>
            <a:r>
              <a:rPr sz="2000" spc="-19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50" dirty="0">
                <a:latin typeface="Georgia" panose="02040502050405020303" pitchFamily="18" charset="0"/>
                <a:cs typeface="Calibri"/>
              </a:rPr>
              <a:t>Y</a:t>
            </a:r>
            <a:endParaRPr sz="2000" dirty="0">
              <a:latin typeface="Georgia" panose="02040502050405020303" pitchFamily="18" charset="0"/>
              <a:cs typeface="Calibri"/>
            </a:endParaRPr>
          </a:p>
          <a:p>
            <a:pPr marL="472440" indent="-309245">
              <a:lnSpc>
                <a:spcPct val="100000"/>
              </a:lnSpc>
              <a:spcBef>
                <a:spcPts val="480"/>
              </a:spcBef>
              <a:buChar char="•"/>
              <a:tabLst>
                <a:tab pos="472440" algn="l"/>
              </a:tabLst>
            </a:pPr>
            <a:r>
              <a:rPr sz="2000" spc="-10" dirty="0">
                <a:latin typeface="Georgia" panose="02040502050405020303" pitchFamily="18" charset="0"/>
                <a:cs typeface="Calibri"/>
              </a:rPr>
              <a:t>Pointeurs</a:t>
            </a:r>
            <a:r>
              <a:rPr sz="2000" spc="4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de</a:t>
            </a:r>
            <a:r>
              <a:rPr sz="2000" spc="-19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50" dirty="0">
                <a:latin typeface="Georgia" panose="02040502050405020303" pitchFamily="18" charset="0"/>
                <a:cs typeface="Calibri"/>
              </a:rPr>
              <a:t>Pile: </a:t>
            </a:r>
            <a:r>
              <a:rPr sz="2000" dirty="0">
                <a:latin typeface="Georgia" panose="02040502050405020303" pitchFamily="18" charset="0"/>
                <a:cs typeface="Calibri"/>
              </a:rPr>
              <a:t>S</a:t>
            </a:r>
            <a:r>
              <a:rPr sz="2000" spc="-1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,</a:t>
            </a:r>
            <a:r>
              <a:rPr sz="2000" spc="-16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50" dirty="0">
                <a:latin typeface="Georgia" panose="02040502050405020303" pitchFamily="18" charset="0"/>
                <a:cs typeface="Calibri"/>
              </a:rPr>
              <a:t>U</a:t>
            </a:r>
            <a:endParaRPr sz="2000" dirty="0">
              <a:latin typeface="Georgia" panose="02040502050405020303" pitchFamily="18" charset="0"/>
              <a:cs typeface="Calibri"/>
            </a:endParaRPr>
          </a:p>
          <a:p>
            <a:pPr marL="472440" indent="-310515">
              <a:lnSpc>
                <a:spcPct val="100000"/>
              </a:lnSpc>
              <a:spcBef>
                <a:spcPts val="530"/>
              </a:spcBef>
              <a:buChar char="•"/>
              <a:tabLst>
                <a:tab pos="472440" algn="l"/>
              </a:tabLst>
            </a:pPr>
            <a:r>
              <a:rPr sz="2000" spc="-50" dirty="0">
                <a:latin typeface="Georgia" panose="02040502050405020303" pitchFamily="18" charset="0"/>
                <a:cs typeface="Calibri"/>
              </a:rPr>
              <a:t>Compteur</a:t>
            </a:r>
            <a:r>
              <a:rPr sz="2000" spc="-114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de</a:t>
            </a:r>
            <a:r>
              <a:rPr sz="2000" spc="-15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30" dirty="0">
                <a:latin typeface="Georgia" panose="02040502050405020303" pitchFamily="18" charset="0"/>
                <a:cs typeface="Calibri"/>
              </a:rPr>
              <a:t>Programme:</a:t>
            </a:r>
            <a:r>
              <a:rPr sz="2000" spc="-1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25" dirty="0">
                <a:latin typeface="Georgia" panose="02040502050405020303" pitchFamily="18" charset="0"/>
                <a:cs typeface="Calibri"/>
              </a:rPr>
              <a:t>PC</a:t>
            </a:r>
            <a:endParaRPr sz="2000" dirty="0">
              <a:latin typeface="Georgia" panose="02040502050405020303" pitchFamily="18" charset="0"/>
              <a:cs typeface="Calibri"/>
            </a:endParaRPr>
          </a:p>
          <a:p>
            <a:pPr marL="472440" indent="-307340">
              <a:lnSpc>
                <a:spcPct val="100000"/>
              </a:lnSpc>
              <a:spcBef>
                <a:spcPts val="575"/>
              </a:spcBef>
              <a:buChar char="•"/>
              <a:tabLst>
                <a:tab pos="472440" algn="l"/>
              </a:tabLst>
            </a:pPr>
            <a:r>
              <a:rPr sz="2000" dirty="0">
                <a:latin typeface="Georgia" panose="02040502050405020303" pitchFamily="18" charset="0"/>
                <a:cs typeface="Calibri"/>
              </a:rPr>
              <a:t>Registre</a:t>
            </a:r>
            <a:r>
              <a:rPr sz="2000" spc="18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de</a:t>
            </a:r>
            <a:r>
              <a:rPr sz="2000" spc="6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Codes</a:t>
            </a:r>
            <a:r>
              <a:rPr sz="2000" spc="-65" dirty="0">
                <a:latin typeface="Georgia" panose="02040502050405020303" pitchFamily="18" charset="0"/>
                <a:cs typeface="Calibri"/>
              </a:rPr>
              <a:t> </a:t>
            </a:r>
            <a:r>
              <a:rPr sz="2000" dirty="0">
                <a:latin typeface="Georgia" panose="02040502050405020303" pitchFamily="18" charset="0"/>
                <a:cs typeface="Calibri"/>
              </a:rPr>
              <a:t>Condition:</a:t>
            </a:r>
            <a:r>
              <a:rPr sz="2000" spc="20" dirty="0">
                <a:latin typeface="Georgia" panose="02040502050405020303" pitchFamily="18" charset="0"/>
                <a:cs typeface="Calibri"/>
              </a:rPr>
              <a:t> </a:t>
            </a:r>
            <a:r>
              <a:rPr sz="2000" spc="-25" dirty="0">
                <a:latin typeface="Georgia" panose="02040502050405020303" pitchFamily="18" charset="0"/>
                <a:cs typeface="Calibri"/>
              </a:rPr>
              <a:t>CCR</a:t>
            </a:r>
            <a:endParaRPr sz="20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170" y="6162430"/>
            <a:ext cx="236220" cy="2146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65" dirty="0">
                <a:latin typeface="Tahoma"/>
                <a:cs typeface="Tahoma"/>
              </a:rPr>
              <a:t>16 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382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000000"/>
                </a:solidFill>
                <a:latin typeface="Georgia"/>
                <a:cs typeface="Georgia"/>
              </a:rPr>
              <a:t>La</a:t>
            </a:r>
            <a:r>
              <a:rPr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simulation</a:t>
            </a:r>
            <a:r>
              <a:rPr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de</a:t>
            </a:r>
            <a:r>
              <a:rPr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la</a:t>
            </a:r>
            <a:r>
              <a:rPr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Mémoire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170" y="616071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latin typeface="Tahoma"/>
                <a:cs typeface="Tahoma"/>
              </a:rPr>
              <a:t>17 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9794" y="1013206"/>
            <a:ext cx="99358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50" dirty="0">
                <a:latin typeface="Cambria"/>
                <a:cs typeface="Cambria"/>
              </a:rPr>
              <a:t>L'espace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spc="-85" dirty="0">
                <a:latin typeface="Cambria"/>
                <a:cs typeface="Cambria"/>
              </a:rPr>
              <a:t>mémoire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85" dirty="0">
                <a:latin typeface="Cambria"/>
                <a:cs typeface="Cambria"/>
              </a:rPr>
              <a:t>complet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du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spc="-210" dirty="0">
                <a:latin typeface="Cambria"/>
                <a:cs typeface="Cambria"/>
              </a:rPr>
              <a:t>6809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est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135" dirty="0">
                <a:latin typeface="Cambria"/>
                <a:cs typeface="Cambria"/>
              </a:rPr>
              <a:t>représenté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par</a:t>
            </a:r>
            <a:r>
              <a:rPr sz="2000" dirty="0">
                <a:latin typeface="Cambria"/>
                <a:cs typeface="Cambria"/>
              </a:rPr>
              <a:t> une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-100" dirty="0">
                <a:latin typeface="Cambria"/>
                <a:cs typeface="Cambria"/>
              </a:rPr>
              <a:t>structure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données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-75" dirty="0">
                <a:latin typeface="Cambria"/>
                <a:cs typeface="Cambria"/>
              </a:rPr>
              <a:t>simple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et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efficace, </a:t>
            </a:r>
            <a:r>
              <a:rPr sz="2000" spc="-110" dirty="0">
                <a:latin typeface="Cambria"/>
                <a:cs typeface="Cambria"/>
              </a:rPr>
              <a:t>tout</a:t>
            </a:r>
            <a:r>
              <a:rPr sz="2000" spc="-1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en</a:t>
            </a:r>
            <a:r>
              <a:rPr sz="2000" spc="-16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implémentant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80" dirty="0">
                <a:latin typeface="Cambria"/>
                <a:cs typeface="Cambria"/>
              </a:rPr>
              <a:t>des</a:t>
            </a:r>
            <a:r>
              <a:rPr sz="2000" spc="-160" dirty="0">
                <a:latin typeface="Cambria"/>
                <a:cs typeface="Cambria"/>
              </a:rPr>
              <a:t> </a:t>
            </a:r>
            <a:r>
              <a:rPr sz="2000" spc="-75" dirty="0">
                <a:latin typeface="Cambria"/>
                <a:cs typeface="Cambria"/>
              </a:rPr>
              <a:t>mécanismes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de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spc="-95" dirty="0">
                <a:latin typeface="Cambria"/>
                <a:cs typeface="Cambria"/>
              </a:rPr>
              <a:t>protection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essentiels.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6876" y="2555417"/>
            <a:ext cx="9216898" cy="8735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5469" y="1663319"/>
            <a:ext cx="635000" cy="800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8349" y="2898267"/>
            <a:ext cx="863600" cy="279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209781" y="2782061"/>
            <a:ext cx="9099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0" dirty="0">
                <a:latin typeface="Arial MT"/>
                <a:cs typeface="Arial MT"/>
              </a:rPr>
              <a:t>$FFFF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082" y="3833571"/>
            <a:ext cx="2781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Architecture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Mémoire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2085" y="4506214"/>
            <a:ext cx="9895840" cy="182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Structure</a:t>
            </a:r>
            <a:r>
              <a:rPr sz="1800" spc="-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base: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unique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tableau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bytes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représente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l'intégralité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</a:t>
            </a:r>
            <a:r>
              <a:rPr sz="1800" spc="-11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l'espace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40" dirty="0">
                <a:latin typeface="Cambria"/>
                <a:cs typeface="Cambria"/>
              </a:rPr>
              <a:t>adressable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55" dirty="0">
                <a:latin typeface="Cambria"/>
                <a:cs typeface="Cambria"/>
              </a:rPr>
              <a:t>(64</a:t>
            </a:r>
            <a:r>
              <a:rPr sz="1800" spc="-18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Ko).</a:t>
            </a:r>
            <a:endParaRPr sz="180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440"/>
              </a:spcBef>
              <a:buChar char="•"/>
              <a:tabLst>
                <a:tab pos="295910" algn="l"/>
              </a:tabLst>
            </a:pPr>
            <a:r>
              <a:rPr sz="1800" spc="-20" dirty="0">
                <a:latin typeface="Cambria"/>
                <a:cs typeface="Cambria"/>
              </a:rPr>
              <a:t>Segmentation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Logique: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70" dirty="0">
                <a:latin typeface="Cambria"/>
                <a:cs typeface="Cambria"/>
              </a:rPr>
              <a:t>Distinction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claire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entre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les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-45" dirty="0">
                <a:latin typeface="Cambria"/>
                <a:cs typeface="Cambria"/>
              </a:rPr>
              <a:t>zones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mémoire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-90" dirty="0">
                <a:latin typeface="Cambria"/>
                <a:cs typeface="Cambria"/>
              </a:rPr>
              <a:t>vive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80" dirty="0">
                <a:latin typeface="Cambria"/>
                <a:cs typeface="Cambria"/>
              </a:rPr>
              <a:t>(RAM)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mémoire</a:t>
            </a:r>
            <a:endParaRPr sz="1800">
              <a:latin typeface="Cambria"/>
              <a:cs typeface="Cambria"/>
            </a:endParaRPr>
          </a:p>
          <a:p>
            <a:pPr marL="295910">
              <a:lnSpc>
                <a:spcPct val="100000"/>
              </a:lnSpc>
              <a:spcBef>
                <a:spcPts val="1045"/>
              </a:spcBef>
            </a:pPr>
            <a:r>
              <a:rPr sz="1800" spc="-10" dirty="0">
                <a:latin typeface="Cambria"/>
                <a:cs typeface="Cambria"/>
              </a:rPr>
              <a:t>morte(ROM).</a:t>
            </a:r>
            <a:endParaRPr sz="1800">
              <a:latin typeface="Cambria"/>
              <a:cs typeface="Cambria"/>
            </a:endParaRPr>
          </a:p>
          <a:p>
            <a:pPr marL="297180" marR="187325" indent="-285115">
              <a:lnSpc>
                <a:spcPct val="103299"/>
              </a:lnSpc>
              <a:spcBef>
                <a:spcPts val="735"/>
              </a:spcBef>
              <a:buChar char="•"/>
              <a:tabLst>
                <a:tab pos="297180" algn="l"/>
              </a:tabLst>
            </a:pPr>
            <a:r>
              <a:rPr sz="1800" dirty="0">
                <a:latin typeface="Cambria"/>
                <a:cs typeface="Cambria"/>
              </a:rPr>
              <a:t>Protection: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mécanisme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protection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est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implémenté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pour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empêcher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toute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tentative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d'écriture </a:t>
            </a:r>
            <a:r>
              <a:rPr sz="1800" dirty="0">
                <a:latin typeface="Cambria"/>
                <a:cs typeface="Cambria"/>
              </a:rPr>
              <a:t>dans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ROM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simulant</a:t>
            </a:r>
            <a:r>
              <a:rPr sz="1800" spc="-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-1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comportement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du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matériel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réel.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382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Gestion</a:t>
            </a:r>
            <a:r>
              <a:rPr spc="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Automatique</a:t>
            </a:r>
            <a:r>
              <a:rPr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des</a:t>
            </a:r>
            <a:r>
              <a:rPr spc="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indicateurs</a:t>
            </a:r>
            <a:r>
              <a:rPr spc="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d’état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110" y="1157732"/>
            <a:ext cx="10558145" cy="2691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Chaque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opération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arithmétique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ou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logique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met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à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jour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temps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réel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les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indicateurs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d'état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(flags),</a:t>
            </a:r>
            <a:endParaRPr sz="2000">
              <a:latin typeface="Cambria"/>
              <a:cs typeface="Cambria"/>
            </a:endParaRPr>
          </a:p>
          <a:p>
            <a:pPr marL="12700" marR="2523490">
              <a:lnSpc>
                <a:spcPts val="4200"/>
              </a:lnSpc>
              <a:spcBef>
                <a:spcPts val="140"/>
              </a:spcBef>
            </a:pPr>
            <a:r>
              <a:rPr sz="2000" spc="-75" dirty="0">
                <a:latin typeface="Cambria"/>
                <a:cs typeface="Cambria"/>
              </a:rPr>
              <a:t>permettant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au</a:t>
            </a:r>
            <a:r>
              <a:rPr sz="2000" spc="-140" dirty="0">
                <a:latin typeface="Cambria"/>
                <a:cs typeface="Cambria"/>
              </a:rPr>
              <a:t> </a:t>
            </a:r>
            <a:r>
              <a:rPr sz="2000" spc="-70" dirty="0">
                <a:latin typeface="Cambria"/>
                <a:cs typeface="Cambria"/>
              </a:rPr>
              <a:t>programme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deréagir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dynamiquement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aux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résultats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35" dirty="0">
                <a:latin typeface="Cambria"/>
                <a:cs typeface="Cambria"/>
              </a:rPr>
              <a:t>des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calculs. </a:t>
            </a:r>
            <a:r>
              <a:rPr sz="2000" dirty="0">
                <a:latin typeface="Cambria"/>
                <a:cs typeface="Cambria"/>
              </a:rPr>
              <a:t>Le</a:t>
            </a:r>
            <a:r>
              <a:rPr sz="2000" spc="-170" dirty="0">
                <a:latin typeface="Cambria"/>
                <a:cs typeface="Cambria"/>
              </a:rPr>
              <a:t> </a:t>
            </a:r>
            <a:r>
              <a:rPr sz="2000" spc="-95" dirty="0">
                <a:latin typeface="Cambria"/>
                <a:cs typeface="Cambria"/>
              </a:rPr>
              <a:t>Rôle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spc="-85" dirty="0">
                <a:latin typeface="Cambria"/>
                <a:cs typeface="Cambria"/>
              </a:rPr>
              <a:t>du</a:t>
            </a:r>
            <a:r>
              <a:rPr sz="2000" spc="-21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Registre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CCR:</a:t>
            </a:r>
            <a:endParaRPr sz="2000">
              <a:latin typeface="Cambria"/>
              <a:cs typeface="Cambria"/>
            </a:endParaRPr>
          </a:p>
          <a:p>
            <a:pPr marL="521334" marR="6357620" indent="-269875" algn="just">
              <a:lnSpc>
                <a:spcPct val="133600"/>
              </a:lnSpc>
              <a:spcBef>
                <a:spcPts val="420"/>
              </a:spcBef>
              <a:buChar char="•"/>
              <a:tabLst>
                <a:tab pos="523240" algn="l"/>
              </a:tabLst>
            </a:pPr>
            <a:r>
              <a:rPr sz="2000" dirty="0">
                <a:latin typeface="Cambria"/>
                <a:cs typeface="Cambria"/>
              </a:rPr>
              <a:t>Le</a:t>
            </a:r>
            <a:r>
              <a:rPr sz="2000" spc="7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CCR</a:t>
            </a:r>
            <a:r>
              <a:rPr sz="2000" spc="8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stocke</a:t>
            </a:r>
            <a:r>
              <a:rPr sz="2000" spc="8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un</a:t>
            </a:r>
            <a:r>
              <a:rPr sz="2000" spc="8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ensemble</a:t>
            </a:r>
            <a:r>
              <a:rPr sz="2000" spc="80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de 	</a:t>
            </a:r>
            <a:r>
              <a:rPr sz="2000" dirty="0">
                <a:latin typeface="Cambria"/>
                <a:cs typeface="Cambria"/>
              </a:rPr>
              <a:t>bits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qui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décrivent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le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résultat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la 	</a:t>
            </a:r>
            <a:r>
              <a:rPr sz="2000" spc="-10" dirty="0">
                <a:latin typeface="Cambria"/>
                <a:cs typeface="Cambria"/>
              </a:rPr>
              <a:t>dernière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opération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0377" y="3913268"/>
            <a:ext cx="3966845" cy="83629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885"/>
              </a:spcBef>
              <a:buChar char="•"/>
              <a:tabLst>
                <a:tab pos="283845" algn="l"/>
                <a:tab pos="949960" algn="l"/>
                <a:tab pos="1233170" algn="l"/>
                <a:tab pos="1835150" algn="l"/>
                <a:tab pos="3357879" algn="l"/>
              </a:tabLst>
            </a:pPr>
            <a:r>
              <a:rPr sz="2000" spc="-20" dirty="0">
                <a:latin typeface="Cambria"/>
                <a:cs typeface="Cambria"/>
              </a:rPr>
              <a:t>Mise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50" dirty="0">
                <a:latin typeface="Cambria"/>
                <a:cs typeface="Cambria"/>
              </a:rPr>
              <a:t>à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0" dirty="0">
                <a:latin typeface="Cambria"/>
                <a:cs typeface="Cambria"/>
              </a:rPr>
              <a:t>jour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automatique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après</a:t>
            </a:r>
            <a:endParaRPr sz="2000">
              <a:latin typeface="Cambria"/>
              <a:cs typeface="Cambria"/>
            </a:endParaRPr>
          </a:p>
          <a:p>
            <a:pPr marL="283845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latin typeface="Cambria"/>
                <a:cs typeface="Cambria"/>
              </a:rPr>
              <a:t>chaque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concernée.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7395" y="2756535"/>
            <a:ext cx="5755005" cy="13450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4951" y="3808222"/>
            <a:ext cx="28930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95"/>
              </a:spcBef>
              <a:buClr>
                <a:srgbClr val="B0863E"/>
              </a:buClr>
              <a:buChar char="•"/>
              <a:tabLst>
                <a:tab pos="279400" algn="l"/>
              </a:tabLst>
            </a:pPr>
            <a:r>
              <a:rPr sz="2500" spc="-60" dirty="0">
                <a:latin typeface="Trebuchet MS"/>
                <a:cs typeface="Trebuchet MS"/>
              </a:rPr>
              <a:t>Résultat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Nul</a:t>
            </a:r>
            <a:r>
              <a:rPr sz="2500" spc="-23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(Zéro)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18 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09841" y="4494149"/>
            <a:ext cx="3999229" cy="167068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spc="-40" dirty="0">
                <a:latin typeface="Cambria"/>
                <a:cs typeface="Cambria"/>
              </a:rPr>
              <a:t>Indicateurs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Clés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Gérés:</a:t>
            </a:r>
            <a:endParaRPr sz="2400">
              <a:latin typeface="Cambria"/>
              <a:cs typeface="Cambria"/>
            </a:endParaRPr>
          </a:p>
          <a:p>
            <a:pPr marL="12700" marR="957580">
              <a:lnSpc>
                <a:spcPct val="100000"/>
              </a:lnSpc>
              <a:spcBef>
                <a:spcPts val="615"/>
              </a:spcBef>
            </a:pPr>
            <a:r>
              <a:rPr sz="1800" spc="-10" dirty="0">
                <a:latin typeface="Tahoma"/>
                <a:cs typeface="Tahoma"/>
              </a:rPr>
              <a:t>C(Carry):Retenue </a:t>
            </a:r>
            <a:r>
              <a:rPr sz="1800" spc="-30" dirty="0">
                <a:latin typeface="Tahoma"/>
                <a:cs typeface="Tahoma"/>
              </a:rPr>
              <a:t>Z(Zero):Résultat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nul </a:t>
            </a:r>
            <a:r>
              <a:rPr sz="1800" spc="-20" dirty="0">
                <a:latin typeface="Tahoma"/>
                <a:cs typeface="Tahoma"/>
              </a:rPr>
              <a:t>N(Negative):Résultat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négative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V(Overflow):Dépassement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capacité.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8678" y="225678"/>
            <a:ext cx="4082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>
                <a:solidFill>
                  <a:srgbClr val="000000"/>
                </a:solidFill>
                <a:latin typeface="Georgia"/>
                <a:cs typeface="Georgia"/>
              </a:rPr>
              <a:t>Le</a:t>
            </a:r>
            <a:r>
              <a:rPr spc="-1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Débogage</a:t>
            </a:r>
            <a:r>
              <a:rPr spc="-1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Interactif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493" y="742538"/>
            <a:ext cx="9737090" cy="967105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000" spc="-145" dirty="0">
                <a:latin typeface="Times New Roman"/>
                <a:cs typeface="Times New Roman"/>
              </a:rPr>
              <a:t>Au-</a:t>
            </a:r>
            <a:r>
              <a:rPr sz="2000" spc="-50" dirty="0">
                <a:latin typeface="Times New Roman"/>
                <a:cs typeface="Times New Roman"/>
              </a:rPr>
              <a:t>delà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la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exécution,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le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simulateur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équipé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d'outils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puissants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pour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observer,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contrôler</a:t>
            </a:r>
            <a:endParaRPr sz="20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310"/>
              </a:spcBef>
            </a:pP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manipuler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virtuelle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pleine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451" y="2578519"/>
            <a:ext cx="1348486" cy="1265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5548" y="2282063"/>
            <a:ext cx="716940" cy="1616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3233" y="2202307"/>
            <a:ext cx="1613153" cy="16169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89530" y="3923792"/>
            <a:ext cx="1256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Point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d'arrêt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(BreakPoint)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19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15229" y="4006722"/>
            <a:ext cx="2070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Exécution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Pas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à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Pas</a:t>
            </a:r>
            <a:endParaRPr sz="18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(Step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by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Step)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27466" y="3923792"/>
            <a:ext cx="2080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Inspecteur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mémoire </a:t>
            </a:r>
            <a:r>
              <a:rPr sz="1800" dirty="0">
                <a:latin typeface="Tahoma"/>
                <a:cs typeface="Tahoma"/>
              </a:rPr>
              <a:t>(Memory</a:t>
            </a:r>
            <a:r>
              <a:rPr sz="1800" spc="1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Ispector)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4295" y="4890871"/>
            <a:ext cx="10528300" cy="13087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300"/>
              </a:spcBef>
              <a:buChar char="•"/>
              <a:tabLst>
                <a:tab pos="307975" algn="l"/>
              </a:tabLst>
            </a:pPr>
            <a:r>
              <a:rPr sz="2000" spc="-10" dirty="0">
                <a:latin typeface="Calibri"/>
                <a:cs typeface="Calibri"/>
              </a:rPr>
              <a:t>Points</a:t>
            </a:r>
            <a:r>
              <a:rPr sz="2000" spc="-15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d'arrêt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(Breakpoints):</a:t>
            </a:r>
            <a:r>
              <a:rPr sz="2000" spc="-200" dirty="0">
                <a:latin typeface="Calibri"/>
                <a:cs typeface="Calibri"/>
              </a:rPr>
              <a:t> </a:t>
            </a:r>
            <a:r>
              <a:rPr sz="2000" spc="-165" dirty="0">
                <a:latin typeface="Calibri"/>
                <a:cs typeface="Calibri"/>
              </a:rPr>
              <a:t>Mettre</a:t>
            </a:r>
            <a:r>
              <a:rPr sz="2000" spc="-155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en</a:t>
            </a:r>
            <a:r>
              <a:rPr sz="2000" spc="-17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pause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65" dirty="0">
                <a:latin typeface="Calibri"/>
                <a:cs typeface="Calibri"/>
              </a:rPr>
              <a:t>l'exécution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des</a:t>
            </a:r>
            <a:r>
              <a:rPr sz="2000" spc="-1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adresses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spécifiques.</a:t>
            </a:r>
            <a:endParaRPr sz="2000">
              <a:latin typeface="Calibri"/>
              <a:cs typeface="Calibri"/>
            </a:endParaRPr>
          </a:p>
          <a:p>
            <a:pPr marL="307975" indent="-295275">
              <a:lnSpc>
                <a:spcPct val="100000"/>
              </a:lnSpc>
              <a:spcBef>
                <a:spcPts val="204"/>
              </a:spcBef>
              <a:buChar char="•"/>
              <a:tabLst>
                <a:tab pos="307975" algn="l"/>
              </a:tabLst>
            </a:pPr>
            <a:r>
              <a:rPr sz="2000" spc="-10" dirty="0">
                <a:latin typeface="Calibri"/>
                <a:cs typeface="Calibri"/>
              </a:rPr>
              <a:t>Exécution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à</a:t>
            </a:r>
            <a:r>
              <a:rPr sz="2000" spc="-1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pas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(Step-by-Step):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Exécuter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70" dirty="0">
                <a:latin typeface="Calibri"/>
                <a:cs typeface="Calibri"/>
              </a:rPr>
              <a:t>instruction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par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instruction.</a:t>
            </a:r>
            <a:endParaRPr sz="2000">
              <a:latin typeface="Calibri"/>
              <a:cs typeface="Calibri"/>
            </a:endParaRPr>
          </a:p>
          <a:p>
            <a:pPr marL="307975" marR="18415" indent="-283845">
              <a:lnSpc>
                <a:spcPct val="100000"/>
              </a:lnSpc>
              <a:spcBef>
                <a:spcPts val="95"/>
              </a:spcBef>
              <a:buChar char="•"/>
              <a:tabLst>
                <a:tab pos="307975" algn="l"/>
              </a:tabLst>
            </a:pPr>
            <a:r>
              <a:rPr sz="2000" spc="-10" dirty="0">
                <a:latin typeface="Calibri"/>
                <a:cs typeface="Calibri"/>
              </a:rPr>
              <a:t>Inspection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Modification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Consulter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altérer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5" dirty="0">
                <a:latin typeface="Calibri"/>
                <a:cs typeface="Calibri"/>
              </a:rPr>
              <a:t>contenu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registres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95" dirty="0">
                <a:latin typeface="Calibri"/>
                <a:cs typeface="Calibri"/>
              </a:rPr>
              <a:t>mémoire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pendant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sa </a:t>
            </a:r>
            <a:r>
              <a:rPr sz="2000" spc="-10" dirty="0">
                <a:latin typeface="Calibri"/>
                <a:cs typeface="Calibri"/>
              </a:rPr>
              <a:t>pause.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382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  <a:latin typeface="Georgia"/>
                <a:cs typeface="Georgia"/>
              </a:rPr>
              <a:t>5-</a:t>
            </a:r>
            <a:r>
              <a:rPr spc="-45" dirty="0">
                <a:solidFill>
                  <a:srgbClr val="000000"/>
                </a:solidFill>
                <a:latin typeface="Georgia"/>
                <a:cs typeface="Georgia"/>
              </a:rPr>
              <a:t>Les</a:t>
            </a:r>
            <a:r>
              <a:rPr spc="-1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Interfaces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932" y="902208"/>
            <a:ext cx="1047750" cy="854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62454" y="1001649"/>
            <a:ext cx="514794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1.</a:t>
            </a:r>
            <a:r>
              <a:rPr sz="3200" spc="-55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Tableau</a:t>
            </a:r>
            <a:r>
              <a:rPr sz="3200" spc="-55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de</a:t>
            </a:r>
            <a:r>
              <a:rPr sz="3200" spc="-60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3200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bord</a:t>
            </a:r>
            <a:r>
              <a:rPr sz="3200" spc="-60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3200" spc="-10" dirty="0">
                <a:solidFill>
                  <a:srgbClr val="1D1D1F"/>
                </a:solidFill>
                <a:latin typeface="Georgia" panose="02040502050405020303" pitchFamily="18" charset="0"/>
                <a:cs typeface="Calibri"/>
              </a:rPr>
              <a:t>principal</a:t>
            </a:r>
            <a:endParaRPr sz="32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20 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69269" y="3821684"/>
            <a:ext cx="1235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7370" algn="l"/>
              </a:tabLst>
            </a:pPr>
            <a:r>
              <a:rPr sz="2800" spc="-50" dirty="0">
                <a:latin typeface="Arial MT"/>
                <a:cs typeface="Arial MT"/>
              </a:rPr>
              <a:t>à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0" dirty="0">
                <a:latin typeface="Arial MT"/>
                <a:cs typeface="Arial MT"/>
              </a:rPr>
              <a:t>pas,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460119" y="2114549"/>
            <a:ext cx="1044422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469265" algn="l"/>
              </a:tabLst>
            </a:pPr>
            <a:r>
              <a:rPr dirty="0">
                <a:latin typeface="Georgia" panose="02040502050405020303" pitchFamily="18" charset="0"/>
              </a:rPr>
              <a:t>Éditeur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intégré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pour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saisir</a:t>
            </a:r>
            <a:r>
              <a:rPr spc="-6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le</a:t>
            </a:r>
            <a:r>
              <a:rPr spc="-5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code</a:t>
            </a:r>
            <a:r>
              <a:rPr spc="-50" dirty="0">
                <a:latin typeface="Georgia" panose="02040502050405020303" pitchFamily="18" charset="0"/>
              </a:rPr>
              <a:t> </a:t>
            </a:r>
            <a:r>
              <a:rPr spc="-10" dirty="0">
                <a:latin typeface="Georgia" panose="02040502050405020303" pitchFamily="18" charset="0"/>
              </a:rPr>
              <a:t>assembleur.</a:t>
            </a:r>
          </a:p>
          <a:p>
            <a:pPr marL="111125" marR="1390650" indent="-99060">
              <a:lnSpc>
                <a:spcPct val="100000"/>
              </a:lnSpc>
              <a:buFont typeface="Wingdings"/>
              <a:buChar char=""/>
              <a:tabLst>
                <a:tab pos="111125" algn="l"/>
                <a:tab pos="469265" algn="l"/>
              </a:tabLst>
            </a:pPr>
            <a:r>
              <a:rPr dirty="0">
                <a:latin typeface="Georgia" panose="02040502050405020303" pitchFamily="18" charset="0"/>
              </a:rPr>
              <a:t>	Affichage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en</a:t>
            </a:r>
            <a:r>
              <a:rPr spc="-5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temps</a:t>
            </a:r>
            <a:r>
              <a:rPr spc="-5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réel</a:t>
            </a:r>
            <a:r>
              <a:rPr spc="-5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de</a:t>
            </a:r>
            <a:r>
              <a:rPr spc="-6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tous</a:t>
            </a:r>
            <a:r>
              <a:rPr spc="-6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les</a:t>
            </a:r>
            <a:r>
              <a:rPr spc="-50" dirty="0">
                <a:latin typeface="Georgia" panose="02040502050405020303" pitchFamily="18" charset="0"/>
              </a:rPr>
              <a:t> </a:t>
            </a:r>
            <a:r>
              <a:rPr spc="-10" dirty="0">
                <a:latin typeface="Georgia" panose="02040502050405020303" pitchFamily="18" charset="0"/>
              </a:rPr>
              <a:t>registres </a:t>
            </a:r>
            <a:r>
              <a:rPr dirty="0">
                <a:latin typeface="Georgia" panose="02040502050405020303" pitchFamily="18" charset="0"/>
              </a:rPr>
              <a:t>(PC,</a:t>
            </a:r>
            <a:r>
              <a:rPr spc="-1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A,</a:t>
            </a:r>
            <a:r>
              <a:rPr spc="-2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B,</a:t>
            </a:r>
            <a:r>
              <a:rPr spc="-1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X,</a:t>
            </a:r>
            <a:r>
              <a:rPr spc="-2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Y,</a:t>
            </a:r>
            <a:r>
              <a:rPr spc="-2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S,</a:t>
            </a:r>
            <a:r>
              <a:rPr spc="-15" dirty="0">
                <a:latin typeface="Georgia" panose="02040502050405020303" pitchFamily="18" charset="0"/>
              </a:rPr>
              <a:t> </a:t>
            </a:r>
            <a:r>
              <a:rPr spc="-20" dirty="0">
                <a:latin typeface="Georgia" panose="02040502050405020303" pitchFamily="18" charset="0"/>
              </a:rPr>
              <a:t>U…).</a:t>
            </a:r>
          </a:p>
          <a:p>
            <a:pPr marL="469265" indent="-456565">
              <a:lnSpc>
                <a:spcPct val="10000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>
                <a:latin typeface="Georgia" panose="02040502050405020303" pitchFamily="18" charset="0"/>
              </a:rPr>
              <a:t>Suivi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des</a:t>
            </a:r>
            <a:r>
              <a:rPr spc="-5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flags</a:t>
            </a:r>
            <a:r>
              <a:rPr spc="-3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du</a:t>
            </a:r>
            <a:r>
              <a:rPr spc="-4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processeur</a:t>
            </a:r>
            <a:r>
              <a:rPr spc="-4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(CCR</a:t>
            </a:r>
            <a:r>
              <a:rPr spc="-2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:</a:t>
            </a:r>
            <a:r>
              <a:rPr spc="-5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Z,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N,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C,</a:t>
            </a:r>
            <a:r>
              <a:rPr spc="-45" dirty="0">
                <a:latin typeface="Georgia" panose="02040502050405020303" pitchFamily="18" charset="0"/>
              </a:rPr>
              <a:t> </a:t>
            </a:r>
            <a:r>
              <a:rPr spc="-20" dirty="0">
                <a:latin typeface="Georgia" panose="02040502050405020303" pitchFamily="18" charset="0"/>
              </a:rPr>
              <a:t>V…).</a:t>
            </a:r>
          </a:p>
          <a:p>
            <a:pPr marL="469900" marR="5080" indent="-457200">
              <a:lnSpc>
                <a:spcPct val="100000"/>
              </a:lnSpc>
              <a:buFont typeface="Wingdings"/>
              <a:buChar char=""/>
              <a:tabLst>
                <a:tab pos="469900" algn="l"/>
                <a:tab pos="2112645" algn="l"/>
                <a:tab pos="2845435" algn="l"/>
                <a:tab pos="4450715" algn="l"/>
                <a:tab pos="4886960" algn="l"/>
                <a:tab pos="6828790" algn="l"/>
                <a:tab pos="8273415" algn="l"/>
              </a:tabLst>
            </a:pPr>
            <a:r>
              <a:rPr spc="-10" dirty="0">
                <a:latin typeface="Georgia" panose="02040502050405020303" pitchFamily="18" charset="0"/>
              </a:rPr>
              <a:t>Boutons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25" dirty="0">
                <a:latin typeface="Georgia" panose="02040502050405020303" pitchFamily="18" charset="0"/>
              </a:rPr>
              <a:t>de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10" dirty="0">
                <a:latin typeface="Georgia" panose="02040502050405020303" pitchFamily="18" charset="0"/>
              </a:rPr>
              <a:t>contrôle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50" dirty="0">
                <a:latin typeface="Georgia" panose="02040502050405020303" pitchFamily="18" charset="0"/>
              </a:rPr>
              <a:t>: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10" dirty="0">
                <a:latin typeface="Georgia" panose="02040502050405020303" pitchFamily="18" charset="0"/>
              </a:rPr>
              <a:t>Démarrer,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10" dirty="0">
                <a:latin typeface="Georgia" panose="02040502050405020303" pitchFamily="18" charset="0"/>
              </a:rPr>
              <a:t>Pause,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25" dirty="0">
                <a:latin typeface="Georgia" panose="02040502050405020303" pitchFamily="18" charset="0"/>
              </a:rPr>
              <a:t>Pas </a:t>
            </a:r>
            <a:r>
              <a:rPr spc="-10" dirty="0">
                <a:latin typeface="Georgia" panose="02040502050405020303" pitchFamily="18" charset="0"/>
              </a:rPr>
              <a:t>Réinitialiser.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21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AE8864-49B7-FD6F-FFF6-A72B95747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29" y="190500"/>
            <a:ext cx="11135971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988" y="176784"/>
            <a:ext cx="1047750" cy="8542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471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2.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Outils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d’édition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et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d’assemblage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6774" y="1246378"/>
            <a:ext cx="8328025" cy="24673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1800" dirty="0">
                <a:latin typeface="Georgia" panose="02040502050405020303" pitchFamily="18" charset="0"/>
                <a:cs typeface="Arial MT"/>
              </a:rPr>
              <a:t>Éditeur</a:t>
            </a:r>
            <a:r>
              <a:rPr sz="1800" spc="-1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de</a:t>
            </a:r>
            <a:r>
              <a:rPr sz="18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texte</a:t>
            </a:r>
            <a:r>
              <a:rPr sz="1800" spc="-1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:</a:t>
            </a:r>
            <a:r>
              <a:rPr sz="18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écriture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 err="1">
                <a:latin typeface="Georgia" panose="02040502050405020303" pitchFamily="18" charset="0"/>
                <a:cs typeface="Arial MT"/>
              </a:rPr>
              <a:t>manuelle</a:t>
            </a:r>
            <a:r>
              <a:rPr sz="1800" spc="-5" dirty="0">
                <a:latin typeface="Georgia" panose="02040502050405020303" pitchFamily="18" charset="0"/>
                <a:cs typeface="Arial MT"/>
              </a:rPr>
              <a:t> </a:t>
            </a:r>
            <a:endParaRPr lang="en-US" sz="1800" spc="-5" dirty="0">
              <a:latin typeface="Georgia" panose="02040502050405020303" pitchFamily="18" charset="0"/>
              <a:cs typeface="Arial MT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1800" dirty="0">
                <a:latin typeface="Georgia" panose="02040502050405020303" pitchFamily="18" charset="0"/>
                <a:cs typeface="Arial MT"/>
              </a:rPr>
              <a:t>du</a:t>
            </a:r>
            <a:r>
              <a:rPr sz="18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code</a:t>
            </a:r>
            <a:endParaRPr sz="1800" dirty="0">
              <a:latin typeface="Georgia" panose="02040502050405020303" pitchFamily="18" charset="0"/>
              <a:cs typeface="Arial MT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"/>
              <a:tabLst>
                <a:tab pos="469900" algn="l"/>
              </a:tabLst>
            </a:pPr>
            <a:r>
              <a:rPr sz="1800" dirty="0">
                <a:latin typeface="Georgia" panose="02040502050405020303" pitchFamily="18" charset="0"/>
                <a:cs typeface="Arial MT"/>
              </a:rPr>
              <a:t>Bouton</a:t>
            </a:r>
            <a:r>
              <a:rPr sz="1800" spc="-2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“Assembler”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:</a:t>
            </a:r>
            <a:r>
              <a:rPr sz="18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transforme</a:t>
            </a:r>
            <a:r>
              <a:rPr sz="18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le</a:t>
            </a:r>
            <a:r>
              <a:rPr sz="1800" spc="-25" dirty="0">
                <a:latin typeface="Georgia" panose="02040502050405020303" pitchFamily="18" charset="0"/>
                <a:cs typeface="Arial MT"/>
              </a:rPr>
              <a:t> </a:t>
            </a:r>
            <a:endParaRPr lang="en-US" sz="1800" spc="-25" dirty="0">
              <a:latin typeface="Georgia" panose="02040502050405020303" pitchFamily="18" charset="0"/>
              <a:cs typeface="Arial MT"/>
            </a:endParaRPr>
          </a:p>
          <a:p>
            <a:pPr marL="12700">
              <a:lnSpc>
                <a:spcPct val="150000"/>
              </a:lnSpc>
              <a:tabLst>
                <a:tab pos="469900" algn="l"/>
              </a:tabLst>
            </a:pPr>
            <a:r>
              <a:rPr sz="1800" dirty="0">
                <a:latin typeface="Georgia" panose="02040502050405020303" pitchFamily="18" charset="0"/>
                <a:cs typeface="Arial MT"/>
              </a:rPr>
              <a:t>code</a:t>
            </a:r>
            <a:r>
              <a:rPr sz="18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en</a:t>
            </a:r>
            <a:r>
              <a:rPr sz="1800" spc="-2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instructions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binaires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spc="-10" dirty="0">
                <a:latin typeface="Georgia" panose="02040502050405020303" pitchFamily="18" charset="0"/>
                <a:cs typeface="Arial MT"/>
              </a:rPr>
              <a:t>exécutables.</a:t>
            </a:r>
            <a:endParaRPr sz="1800" dirty="0">
              <a:latin typeface="Georgia" panose="02040502050405020303" pitchFamily="18" charset="0"/>
              <a:cs typeface="Arial MT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"/>
              <a:tabLst>
                <a:tab pos="469900" algn="l"/>
              </a:tabLst>
            </a:pPr>
            <a:r>
              <a:rPr sz="1800" dirty="0">
                <a:latin typeface="Georgia" panose="02040502050405020303" pitchFamily="18" charset="0"/>
                <a:cs typeface="Arial MT"/>
              </a:rPr>
              <a:t>Fenêtre</a:t>
            </a:r>
            <a:r>
              <a:rPr sz="1800" spc="-4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de</a:t>
            </a:r>
            <a:r>
              <a:rPr sz="1800" spc="-1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résultat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:</a:t>
            </a:r>
            <a:r>
              <a:rPr sz="1800" spc="-2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affiche</a:t>
            </a:r>
            <a:r>
              <a:rPr sz="1800" spc="-1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les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opcodes</a:t>
            </a:r>
            <a:r>
              <a:rPr sz="1800" spc="-15" dirty="0">
                <a:latin typeface="Georgia" panose="02040502050405020303" pitchFamily="18" charset="0"/>
                <a:cs typeface="Arial MT"/>
              </a:rPr>
              <a:t> </a:t>
            </a:r>
            <a:endParaRPr lang="en-US" sz="1800" spc="-15" dirty="0">
              <a:latin typeface="Georgia" panose="02040502050405020303" pitchFamily="18" charset="0"/>
              <a:cs typeface="Arial MT"/>
            </a:endParaRPr>
          </a:p>
          <a:p>
            <a:pPr marL="12700">
              <a:lnSpc>
                <a:spcPct val="150000"/>
              </a:lnSpc>
              <a:tabLst>
                <a:tab pos="469900" algn="l"/>
              </a:tabLst>
            </a:pPr>
            <a:r>
              <a:rPr sz="1800" dirty="0" err="1">
                <a:latin typeface="Georgia" panose="02040502050405020303" pitchFamily="18" charset="0"/>
                <a:cs typeface="Arial MT"/>
              </a:rPr>
              <a:t>générés</a:t>
            </a:r>
            <a:r>
              <a:rPr sz="1800" spc="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ou</a:t>
            </a:r>
            <a:r>
              <a:rPr sz="1800" spc="-2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les</a:t>
            </a:r>
            <a:r>
              <a:rPr sz="18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erreurs</a:t>
            </a:r>
            <a:r>
              <a:rPr sz="1800" spc="-10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dirty="0">
                <a:latin typeface="Georgia" panose="02040502050405020303" pitchFamily="18" charset="0"/>
                <a:cs typeface="Arial MT"/>
              </a:rPr>
              <a:t>de</a:t>
            </a:r>
            <a:r>
              <a:rPr sz="1800" spc="-25" dirty="0">
                <a:latin typeface="Georgia" panose="02040502050405020303" pitchFamily="18" charset="0"/>
                <a:cs typeface="Arial MT"/>
              </a:rPr>
              <a:t> </a:t>
            </a:r>
            <a:r>
              <a:rPr sz="1800" spc="-10" dirty="0">
                <a:latin typeface="Georgia" panose="02040502050405020303" pitchFamily="18" charset="0"/>
                <a:cs typeface="Arial MT"/>
              </a:rPr>
              <a:t>syntaxe.</a:t>
            </a:r>
            <a:endParaRPr sz="1800" dirty="0">
              <a:latin typeface="Georgia" panose="02040502050405020303" pitchFamily="18" charset="0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22 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4823AA-42DD-D359-0EC4-96058FC02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777824"/>
            <a:ext cx="5054206" cy="59776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26492"/>
            <a:ext cx="1046226" cy="8542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2455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50" dirty="0"/>
              <a:t> </a:t>
            </a:r>
            <a:r>
              <a:rPr dirty="0"/>
              <a:t>Visualisation</a:t>
            </a:r>
            <a:r>
              <a:rPr spc="-25" dirty="0"/>
              <a:t> </a:t>
            </a:r>
            <a:r>
              <a:rPr dirty="0"/>
              <a:t>détaillée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Registres</a:t>
            </a:r>
            <a:r>
              <a:rPr spc="-65" dirty="0"/>
              <a:t> </a:t>
            </a:r>
            <a:r>
              <a:rPr dirty="0"/>
              <a:t>et</a:t>
            </a:r>
            <a:r>
              <a:rPr spc="-60" dirty="0"/>
              <a:t> </a:t>
            </a:r>
            <a:r>
              <a:rPr spc="-10" dirty="0"/>
              <a:t>mémoire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8952" y="1685924"/>
            <a:ext cx="4948048" cy="25975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82245" indent="-342900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54965" algn="l"/>
              </a:tabLst>
            </a:pPr>
            <a:r>
              <a:rPr sz="2800" dirty="0">
                <a:latin typeface="Georgia" panose="02040502050405020303" pitchFamily="18" charset="0"/>
                <a:cs typeface="Arial MT"/>
              </a:rPr>
              <a:t>Vue</a:t>
            </a:r>
            <a:r>
              <a:rPr sz="2800" spc="-12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agrandie</a:t>
            </a:r>
            <a:r>
              <a:rPr sz="2800" spc="-12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25" dirty="0">
                <a:latin typeface="Georgia" panose="02040502050405020303" pitchFamily="18" charset="0"/>
                <a:cs typeface="Arial MT"/>
              </a:rPr>
              <a:t>des </a:t>
            </a:r>
            <a:r>
              <a:rPr sz="2800" dirty="0">
                <a:latin typeface="Georgia" panose="02040502050405020303" pitchFamily="18" charset="0"/>
                <a:cs typeface="Arial MT"/>
              </a:rPr>
              <a:t>registres:</a:t>
            </a:r>
            <a:r>
              <a:rPr sz="2800" spc="-10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chaque</a:t>
            </a:r>
            <a:r>
              <a:rPr sz="2800" spc="-9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valeur </a:t>
            </a:r>
            <a:r>
              <a:rPr sz="2800" dirty="0">
                <a:latin typeface="Georgia" panose="02040502050405020303" pitchFamily="18" charset="0"/>
                <a:cs typeface="Arial MT"/>
              </a:rPr>
              <a:t>affichée</a:t>
            </a:r>
            <a:r>
              <a:rPr sz="2800" spc="-14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individuellement.</a:t>
            </a:r>
            <a:endParaRPr sz="2800" dirty="0">
              <a:latin typeface="Georgia" panose="02040502050405020303" pitchFamily="18" charset="0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800" dirty="0">
                <a:latin typeface="Georgia" panose="02040502050405020303" pitchFamily="18" charset="0"/>
                <a:cs typeface="Arial MT"/>
              </a:rPr>
              <a:t>Découpage</a:t>
            </a:r>
            <a:r>
              <a:rPr sz="2800" spc="-7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du</a:t>
            </a:r>
            <a:r>
              <a:rPr sz="2800" spc="-7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CCR</a:t>
            </a:r>
            <a:r>
              <a:rPr sz="28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: </a:t>
            </a:r>
            <a:r>
              <a:rPr sz="2800" dirty="0">
                <a:latin typeface="Georgia" panose="02040502050405020303" pitchFamily="18" charset="0"/>
                <a:cs typeface="Arial MT"/>
              </a:rPr>
              <a:t>chaque</a:t>
            </a:r>
            <a:r>
              <a:rPr sz="28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bit</a:t>
            </a:r>
            <a:r>
              <a:rPr sz="28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(Zero, </a:t>
            </a:r>
            <a:r>
              <a:rPr sz="2800" dirty="0">
                <a:latin typeface="Georgia" panose="02040502050405020303" pitchFamily="18" charset="0"/>
                <a:cs typeface="Arial MT"/>
              </a:rPr>
              <a:t>Negative,</a:t>
            </a:r>
            <a:r>
              <a:rPr sz="2800" spc="-13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20" dirty="0">
                <a:latin typeface="Georgia" panose="02040502050405020303" pitchFamily="18" charset="0"/>
                <a:cs typeface="Arial MT"/>
              </a:rPr>
              <a:t>Carry,</a:t>
            </a:r>
            <a:r>
              <a:rPr sz="2800" spc="-12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Overflow) visible.</a:t>
            </a:r>
            <a:endParaRPr sz="2800" dirty="0">
              <a:latin typeface="Georgia" panose="02040502050405020303" pitchFamily="18" charset="0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pc="-25" dirty="0"/>
              <a:t>23 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560FE1-2261-6422-2213-45A221007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197" y="777824"/>
            <a:ext cx="4528001" cy="58015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9360" y="230504"/>
            <a:ext cx="770890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Georgia" panose="02040502050405020303" pitchFamily="18" charset="0"/>
                <a:cs typeface="Arial MT"/>
              </a:rPr>
              <a:t>Mémoire</a:t>
            </a:r>
            <a:r>
              <a:rPr sz="2800" spc="-9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interactive</a:t>
            </a:r>
            <a:r>
              <a:rPr sz="2800" spc="-12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60" dirty="0">
                <a:latin typeface="Georgia" panose="02040502050405020303" pitchFamily="18" charset="0"/>
                <a:cs typeface="Arial MT"/>
              </a:rPr>
              <a:t>:</a:t>
            </a:r>
            <a:endParaRPr sz="2800" dirty="0">
              <a:latin typeface="Georgia" panose="02040502050405020303" pitchFamily="18" charset="0"/>
              <a:cs typeface="Arial MT"/>
            </a:endParaRPr>
          </a:p>
          <a:p>
            <a:pPr marL="298450" indent="-285750">
              <a:lnSpc>
                <a:spcPct val="100000"/>
              </a:lnSpc>
              <a:buSzPct val="96428"/>
              <a:buFont typeface="Wingdings"/>
              <a:buChar char=""/>
              <a:tabLst>
                <a:tab pos="298450" algn="l"/>
              </a:tabLst>
            </a:pPr>
            <a:r>
              <a:rPr sz="2800" dirty="0">
                <a:latin typeface="Georgia" panose="02040502050405020303" pitchFamily="18" charset="0"/>
                <a:cs typeface="Arial MT"/>
              </a:rPr>
              <a:t>RAM</a:t>
            </a:r>
            <a:r>
              <a:rPr sz="28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:</a:t>
            </a:r>
            <a:r>
              <a:rPr sz="28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modifiable</a:t>
            </a:r>
            <a:r>
              <a:rPr sz="28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→</a:t>
            </a:r>
            <a:r>
              <a:rPr sz="28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pour</a:t>
            </a:r>
            <a:r>
              <a:rPr sz="28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stocker</a:t>
            </a:r>
            <a:r>
              <a:rPr sz="28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les</a:t>
            </a:r>
            <a:r>
              <a:rPr sz="28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variables.</a:t>
            </a:r>
            <a:endParaRPr sz="2800" dirty="0">
              <a:latin typeface="Georgia" panose="02040502050405020303" pitchFamily="18" charset="0"/>
              <a:cs typeface="Arial MT"/>
            </a:endParaRPr>
          </a:p>
          <a:p>
            <a:pPr marL="298450" indent="-285750">
              <a:lnSpc>
                <a:spcPct val="100000"/>
              </a:lnSpc>
              <a:buSzPct val="96428"/>
              <a:buFont typeface="Wingdings"/>
              <a:buChar char=""/>
              <a:tabLst>
                <a:tab pos="298450" algn="l"/>
              </a:tabLst>
            </a:pPr>
            <a:r>
              <a:rPr sz="2800" dirty="0">
                <a:latin typeface="Georgia" panose="02040502050405020303" pitchFamily="18" charset="0"/>
                <a:cs typeface="Arial MT"/>
              </a:rPr>
              <a:t>ROM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: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lecture</a:t>
            </a:r>
            <a:r>
              <a:rPr sz="28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seule</a:t>
            </a:r>
            <a:r>
              <a:rPr sz="28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→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pour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le</a:t>
            </a:r>
            <a:r>
              <a:rPr sz="28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code.</a:t>
            </a:r>
            <a:endParaRPr sz="2800" dirty="0">
              <a:latin typeface="Georgia" panose="02040502050405020303" pitchFamily="18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9170" y="6162430"/>
            <a:ext cx="236220" cy="2146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65" dirty="0">
                <a:latin typeface="Tahoma"/>
                <a:cs typeface="Tahoma"/>
              </a:rPr>
              <a:t>24 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B312F8-E22E-0F53-DA84-7A7F672DD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194" y="1587461"/>
            <a:ext cx="3539616" cy="4924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576913-4C10-47BF-87E8-E3BBBEE00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587461"/>
            <a:ext cx="3810000" cy="49248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6436" y="604265"/>
            <a:ext cx="2442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>
                <a:solidFill>
                  <a:srgbClr val="000000"/>
                </a:solidFill>
                <a:latin typeface="Georgia"/>
                <a:cs typeface="Georgia"/>
              </a:rPr>
              <a:t>6-</a:t>
            </a:r>
            <a:r>
              <a:rPr spc="-10" dirty="0">
                <a:solidFill>
                  <a:srgbClr val="000000"/>
                </a:solidFill>
                <a:latin typeface="Georgia"/>
                <a:cs typeface="Georgia"/>
              </a:rPr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9170" y="6162430"/>
            <a:ext cx="236220" cy="2146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65" dirty="0">
                <a:latin typeface="Tahoma"/>
                <a:cs typeface="Tahoma"/>
              </a:rPr>
              <a:t>25 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3941" y="1678939"/>
            <a:ext cx="7628255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95"/>
              </a:spcBef>
            </a:pPr>
            <a:r>
              <a:rPr sz="2800" spc="120" dirty="0">
                <a:latin typeface="Tahoma"/>
                <a:cs typeface="Tahoma"/>
              </a:rPr>
              <a:t>Ce</a:t>
            </a:r>
            <a:r>
              <a:rPr sz="2800" spc="100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projet</a:t>
            </a:r>
            <a:r>
              <a:rPr sz="2800" spc="105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105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permis</a:t>
            </a:r>
            <a:r>
              <a:rPr sz="2800" spc="105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100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créer</a:t>
            </a:r>
            <a:r>
              <a:rPr sz="2800" spc="105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un</a:t>
            </a:r>
            <a:r>
              <a:rPr sz="2800" spc="100" dirty="0">
                <a:latin typeface="Tahoma"/>
                <a:cs typeface="Tahoma"/>
              </a:rPr>
              <a:t>  </a:t>
            </a:r>
            <a:r>
              <a:rPr sz="2800" spc="-10" dirty="0">
                <a:latin typeface="Tahoma"/>
                <a:cs typeface="Tahoma"/>
              </a:rPr>
              <a:t>simulateur </a:t>
            </a:r>
            <a:r>
              <a:rPr sz="2800" dirty="0">
                <a:latin typeface="Tahoma"/>
                <a:cs typeface="Tahoma"/>
              </a:rPr>
              <a:t>fonctionnel</a:t>
            </a:r>
            <a:r>
              <a:rPr sz="2800" spc="459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et</a:t>
            </a:r>
            <a:r>
              <a:rPr sz="2800" spc="4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pédagogique</a:t>
            </a:r>
            <a:r>
              <a:rPr sz="2800" spc="459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du</a:t>
            </a:r>
            <a:r>
              <a:rPr sz="2800" spc="4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Motorola</a:t>
            </a:r>
            <a:r>
              <a:rPr sz="2800" spc="4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6809, </a:t>
            </a:r>
            <a:r>
              <a:rPr sz="2800" dirty="0">
                <a:latin typeface="Tahoma"/>
                <a:cs typeface="Tahoma"/>
              </a:rPr>
              <a:t>intégrant</a:t>
            </a:r>
            <a:r>
              <a:rPr sz="2800" spc="55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exécution,</a:t>
            </a:r>
            <a:r>
              <a:rPr sz="2800" spc="55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débogage</a:t>
            </a:r>
            <a:r>
              <a:rPr sz="2800" spc="50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pas</a:t>
            </a:r>
            <a:r>
              <a:rPr sz="2800" spc="40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à</a:t>
            </a:r>
            <a:r>
              <a:rPr sz="2800" spc="45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pas</a:t>
            </a:r>
            <a:r>
              <a:rPr sz="2800" spc="40" dirty="0">
                <a:latin typeface="Tahoma"/>
                <a:cs typeface="Tahoma"/>
              </a:rPr>
              <a:t>  </a:t>
            </a:r>
            <a:r>
              <a:rPr sz="2800" spc="-25" dirty="0">
                <a:latin typeface="Tahoma"/>
                <a:cs typeface="Tahoma"/>
              </a:rPr>
              <a:t>et </a:t>
            </a:r>
            <a:r>
              <a:rPr sz="2800" dirty="0">
                <a:latin typeface="Tahoma"/>
                <a:cs typeface="Tahoma"/>
              </a:rPr>
              <a:t>interface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claire.</a:t>
            </a:r>
            <a:endParaRPr sz="28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dirty="0">
                <a:latin typeface="Tahoma"/>
                <a:cs typeface="Tahoma"/>
              </a:rPr>
              <a:t>Il</a:t>
            </a:r>
            <a:r>
              <a:rPr sz="2800" spc="6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rend</a:t>
            </a:r>
            <a:r>
              <a:rPr sz="2800" spc="6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l’assembleur</a:t>
            </a:r>
            <a:r>
              <a:rPr sz="2800" spc="-85" dirty="0">
                <a:latin typeface="Tahoma"/>
                <a:cs typeface="Tahoma"/>
              </a:rPr>
              <a:t>  </a:t>
            </a:r>
            <a:r>
              <a:rPr sz="2800" spc="50" dirty="0">
                <a:latin typeface="Tahoma"/>
                <a:cs typeface="Tahoma"/>
              </a:rPr>
              <a:t>accessible</a:t>
            </a:r>
            <a:r>
              <a:rPr sz="2800" spc="-80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et</a:t>
            </a:r>
            <a:r>
              <a:rPr sz="2800" spc="6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renforce</a:t>
            </a:r>
            <a:r>
              <a:rPr sz="2800" spc="-90" dirty="0">
                <a:latin typeface="Tahoma"/>
                <a:cs typeface="Tahoma"/>
              </a:rPr>
              <a:t>  </a:t>
            </a:r>
            <a:r>
              <a:rPr sz="2800" spc="-25" dirty="0">
                <a:latin typeface="Tahoma"/>
                <a:cs typeface="Tahoma"/>
              </a:rPr>
              <a:t>la </a:t>
            </a:r>
            <a:r>
              <a:rPr sz="2800" dirty="0">
                <a:latin typeface="Tahoma"/>
                <a:cs typeface="Tahoma"/>
              </a:rPr>
              <a:t>compréhension</a:t>
            </a:r>
            <a:r>
              <a:rPr sz="2800" spc="575" dirty="0">
                <a:latin typeface="Tahoma"/>
                <a:cs typeface="Tahoma"/>
              </a:rPr>
              <a:t>   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565" dirty="0">
                <a:latin typeface="Tahoma"/>
                <a:cs typeface="Tahoma"/>
              </a:rPr>
              <a:t>    </a:t>
            </a:r>
            <a:r>
              <a:rPr sz="2800" dirty="0">
                <a:latin typeface="Tahoma"/>
                <a:cs typeface="Tahoma"/>
              </a:rPr>
              <a:t>l’architecture</a:t>
            </a:r>
            <a:r>
              <a:rPr sz="2800" spc="570" dirty="0">
                <a:latin typeface="Tahoma"/>
                <a:cs typeface="Tahoma"/>
              </a:rPr>
              <a:t>    </a:t>
            </a:r>
            <a:r>
              <a:rPr sz="2800" spc="45" dirty="0">
                <a:latin typeface="Tahoma"/>
                <a:cs typeface="Tahoma"/>
              </a:rPr>
              <a:t>des </a:t>
            </a:r>
            <a:r>
              <a:rPr sz="2800" dirty="0">
                <a:latin typeface="Tahoma"/>
                <a:cs typeface="Tahoma"/>
              </a:rPr>
              <a:t>processeurs</a:t>
            </a:r>
            <a:r>
              <a:rPr sz="2800" spc="345" dirty="0">
                <a:latin typeface="Tahoma"/>
                <a:cs typeface="Tahoma"/>
              </a:rPr>
              <a:t> </a:t>
            </a:r>
            <a:r>
              <a:rPr sz="2800" spc="225" dirty="0">
                <a:latin typeface="Tahoma"/>
                <a:cs typeface="Tahoma"/>
              </a:rPr>
              <a:t>—</a:t>
            </a:r>
            <a:r>
              <a:rPr sz="2800" spc="3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un</a:t>
            </a:r>
            <a:r>
              <a:rPr sz="2800" spc="3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excellent</a:t>
            </a:r>
            <a:r>
              <a:rPr sz="2800" spc="3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pont</a:t>
            </a:r>
            <a:r>
              <a:rPr sz="2800" spc="3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entre</a:t>
            </a:r>
            <a:r>
              <a:rPr sz="2800" spc="3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théorie </a:t>
            </a:r>
            <a:r>
              <a:rPr sz="2800" dirty="0">
                <a:latin typeface="Tahoma"/>
                <a:cs typeface="Tahoma"/>
              </a:rPr>
              <a:t>et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pratique.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1445</Words>
  <Application>Microsoft Office PowerPoint</Application>
  <PresentationFormat>Widescreen</PresentationFormat>
  <Paragraphs>210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MT</vt:lpstr>
      <vt:lpstr>Calibri</vt:lpstr>
      <vt:lpstr>Cambria</vt:lpstr>
      <vt:lpstr>Consolas</vt:lpstr>
      <vt:lpstr>Georgia</vt:lpstr>
      <vt:lpstr>Tahoma</vt:lpstr>
      <vt:lpstr>Times New Roman</vt:lpstr>
      <vt:lpstr>Trebuchet MS</vt:lpstr>
      <vt:lpstr>Wingdings</vt:lpstr>
      <vt:lpstr>Office Theme</vt:lpstr>
      <vt:lpstr>PowerPoint Presentation</vt:lpstr>
      <vt:lpstr>Simulateur de Microprocesseur Motorola6809</vt:lpstr>
      <vt:lpstr>Structure de Présentation</vt:lpstr>
      <vt:lpstr>1-Introduction : Objectif:</vt:lpstr>
      <vt:lpstr>2-Architecture de Motorola</vt:lpstr>
      <vt:lpstr>Les registres du Microprocesseur 6809</vt:lpstr>
      <vt:lpstr>Accumulateurs A , B et D</vt:lpstr>
      <vt:lpstr>Registres d’index et Pointeurs de Pile</vt:lpstr>
      <vt:lpstr>Contrôle de flux et de l’état : PC,DP et CCR</vt:lpstr>
      <vt:lpstr>3-Organisation du projet</vt:lpstr>
      <vt:lpstr>PowerPoint Presentation</vt:lpstr>
      <vt:lpstr>4-Techniques de simulation</vt:lpstr>
      <vt:lpstr>Un Cycle d’exécution fidèle</vt:lpstr>
      <vt:lpstr>Le Décodage dynamique</vt:lpstr>
      <vt:lpstr>La Logique d’adressage</vt:lpstr>
      <vt:lpstr>La Modélisation des Registres</vt:lpstr>
      <vt:lpstr>La simulation de la Mémoire</vt:lpstr>
      <vt:lpstr>Gestion Automatique des indicateurs d’état</vt:lpstr>
      <vt:lpstr>Le Débogage Interactif</vt:lpstr>
      <vt:lpstr>5-Les Interfaces</vt:lpstr>
      <vt:lpstr>PowerPoint Presentation</vt:lpstr>
      <vt:lpstr>2. Outils d’édition et d’assemblage</vt:lpstr>
      <vt:lpstr>3. Visualisation détaillée – Registres et mémoire</vt:lpstr>
      <vt:lpstr>PowerPoint Presentation</vt:lpstr>
      <vt:lpstr>6-Conclusion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 Luna</dc:creator>
  <cp:lastModifiedBy>La Luna</cp:lastModifiedBy>
  <cp:revision>1</cp:revision>
  <dcterms:created xsi:type="dcterms:W3CDTF">2025-12-25T01:32:41Z</dcterms:created>
  <dcterms:modified xsi:type="dcterms:W3CDTF">2025-12-25T01:45:20Z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2025-12-25T00:00:00Z</vt:filetime>
  </property>
  <property fmtid="{D5CDD505-2E9C-101B-9397-08002B2CF9AE}" pid="3" name="LastSaved">
    <vt:filetime>2025-12-25T00:00:00Z</vt:filetime>
  </property>
  <property fmtid="{D5CDD505-2E9C-101B-9397-08002B2CF9AE}" pid="4" name="Producer">
    <vt:lpwstr>iLovePDF</vt:lpwstr>
  </property>
</Properties>
</file>